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</p:sldIdLst>
  <p:sldSz cx="12192000" cy="68580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34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106F8-274A-052B-056A-4D96119175A8}" v="397" dt="2026-07-06T17:07:05.911"/>
    <p1510:client id="{A164639D-07B3-0EDB-9B51-70AE541C196D}" v="656" dt="2026-07-06T14:26:25.2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1847"/>
        <p:guide pos="34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86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92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1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6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41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32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87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41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41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229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41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682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rabiasilakaraca742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23143" y="-37526"/>
            <a:ext cx="12330767" cy="6931942"/>
          </a:xfrm>
          <a:custGeom>
            <a:avLst/>
            <a:gdLst/>
            <a:ahLst/>
            <a:cxnLst/>
            <a:rect l="l" t="t" r="r" b="b"/>
            <a:pathLst>
              <a:path w="7560309" h="10152380">
                <a:moveTo>
                  <a:pt x="0" y="10152130"/>
                </a:moveTo>
                <a:lnTo>
                  <a:pt x="7560097" y="10152130"/>
                </a:lnTo>
                <a:lnTo>
                  <a:pt x="7560097" y="0"/>
                </a:lnTo>
                <a:lnTo>
                  <a:pt x="0" y="0"/>
                </a:lnTo>
                <a:lnTo>
                  <a:pt x="0" y="10152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72890" y="6580125"/>
            <a:ext cx="4848654" cy="277333"/>
          </a:xfrm>
          <a:custGeom>
            <a:avLst/>
            <a:gdLst/>
            <a:ahLst/>
            <a:cxnLst/>
            <a:rect l="l" t="t" r="r" b="b"/>
            <a:pathLst>
              <a:path w="7560309" h="432434">
                <a:moveTo>
                  <a:pt x="0" y="432004"/>
                </a:moveTo>
                <a:lnTo>
                  <a:pt x="7560097" y="432004"/>
                </a:lnTo>
                <a:lnTo>
                  <a:pt x="7560097" y="0"/>
                </a:lnTo>
                <a:lnTo>
                  <a:pt x="0" y="0"/>
                </a:lnTo>
                <a:lnTo>
                  <a:pt x="0" y="4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122733" y="254593"/>
            <a:ext cx="12323511" cy="140769"/>
            <a:chOff x="-8" y="431992"/>
            <a:chExt cx="7560309" cy="72390"/>
          </a:xfrm>
        </p:grpSpPr>
        <p:sp>
          <p:nvSpPr>
            <p:cNvPr id="5" name="object 5"/>
            <p:cNvSpPr/>
            <p:nvPr/>
          </p:nvSpPr>
          <p:spPr>
            <a:xfrm>
              <a:off x="-8" y="431992"/>
              <a:ext cx="7560309" cy="36195"/>
            </a:xfrm>
            <a:custGeom>
              <a:avLst/>
              <a:gdLst/>
              <a:ahLst/>
              <a:cxnLst/>
              <a:rect l="l" t="t" r="r" b="b"/>
              <a:pathLst>
                <a:path w="7560309" h="36195">
                  <a:moveTo>
                    <a:pt x="0" y="0"/>
                  </a:moveTo>
                  <a:lnTo>
                    <a:pt x="0" y="36002"/>
                  </a:lnTo>
                  <a:lnTo>
                    <a:pt x="7560097" y="36002"/>
                  </a:lnTo>
                  <a:lnTo>
                    <a:pt x="75600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8" y="467995"/>
              <a:ext cx="7560309" cy="36195"/>
            </a:xfrm>
            <a:custGeom>
              <a:avLst/>
              <a:gdLst/>
              <a:ahLst/>
              <a:cxnLst/>
              <a:rect l="l" t="t" r="r" b="b"/>
              <a:pathLst>
                <a:path w="7560309" h="36195">
                  <a:moveTo>
                    <a:pt x="0" y="35997"/>
                  </a:moveTo>
                  <a:lnTo>
                    <a:pt x="0" y="0"/>
                  </a:lnTo>
                  <a:lnTo>
                    <a:pt x="7560097" y="0"/>
                  </a:lnTo>
                  <a:lnTo>
                    <a:pt x="7560097" y="35997"/>
                  </a:lnTo>
                  <a:lnTo>
                    <a:pt x="0" y="3599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39" y="553732"/>
            <a:ext cx="5418498" cy="49104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75540" y="5466737"/>
            <a:ext cx="3123419" cy="642173"/>
          </a:xfrm>
          <a:prstGeom prst="rect">
            <a:avLst/>
          </a:prstGeom>
        </p:spPr>
        <p:txBody>
          <a:bodyPr vert="horz" wrap="square" lIns="0" tIns="72082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68"/>
              </a:spcBef>
            </a:pPr>
            <a:r>
              <a:rPr sz="1600" b="1" i="1" spc="-90" dirty="0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1600" b="1" i="1" spc="-87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600" b="1" i="1" spc="-13" dirty="0">
                <a:solidFill>
                  <a:srgbClr val="CC0000"/>
                </a:solidFill>
                <a:latin typeface="Trebuchet MS"/>
                <a:cs typeface="Trebuchet MS"/>
              </a:rPr>
              <a:t>2026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12"/>
              </a:spcBef>
            </a:pPr>
            <a:r>
              <a:rPr sz="1600" b="1" i="1" spc="-99" dirty="0">
                <a:solidFill>
                  <a:srgbClr val="FFFFFF"/>
                </a:solidFill>
                <a:latin typeface="Trebuchet MS"/>
                <a:cs typeface="Trebuchet MS"/>
              </a:rPr>
              <a:t>TAKIM</a:t>
            </a:r>
            <a:r>
              <a:rPr sz="16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i="1" spc="-96" dirty="0">
                <a:solidFill>
                  <a:srgbClr val="FFFFFF"/>
                </a:solidFill>
                <a:latin typeface="Trebuchet MS"/>
                <a:cs typeface="Trebuchet MS"/>
              </a:rPr>
              <a:t>TANITIM</a:t>
            </a:r>
            <a:r>
              <a:rPr sz="16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i="1" spc="-29" dirty="0">
                <a:solidFill>
                  <a:srgbClr val="FFFFFF"/>
                </a:solidFill>
                <a:latin typeface="Trebuchet MS"/>
                <a:cs typeface="Trebuchet MS"/>
              </a:rPr>
              <a:t>DOSYASI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122596" y="6416518"/>
            <a:ext cx="12330768" cy="163981"/>
            <a:chOff x="-8" y="10152119"/>
            <a:chExt cx="7560309" cy="108585"/>
          </a:xfrm>
        </p:grpSpPr>
        <p:sp>
          <p:nvSpPr>
            <p:cNvPr id="10" name="object 10"/>
            <p:cNvSpPr/>
            <p:nvPr/>
          </p:nvSpPr>
          <p:spPr>
            <a:xfrm>
              <a:off x="-8" y="10152119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0" y="53998"/>
                  </a:moveTo>
                  <a:lnTo>
                    <a:pt x="7560097" y="53998"/>
                  </a:lnTo>
                  <a:lnTo>
                    <a:pt x="7560097" y="0"/>
                  </a:lnTo>
                  <a:lnTo>
                    <a:pt x="0" y="0"/>
                  </a:lnTo>
                  <a:lnTo>
                    <a:pt x="0" y="5399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-8" y="10206117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0" y="54004"/>
                  </a:moveTo>
                  <a:lnTo>
                    <a:pt x="0" y="0"/>
                  </a:lnTo>
                  <a:lnTo>
                    <a:pt x="7560097" y="0"/>
                  </a:lnTo>
                  <a:lnTo>
                    <a:pt x="7560097" y="54004"/>
                  </a:lnTo>
                  <a:lnTo>
                    <a:pt x="0" y="540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329375" y="-3364"/>
            <a:ext cx="11205712" cy="76735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spcBef>
                <a:spcPts val="58"/>
              </a:spcBef>
              <a:tabLst>
                <a:tab pos="3318481" algn="l"/>
              </a:tabLst>
            </a:pPr>
            <a:r>
              <a:rPr lang="tr-TR" sz="700" i="1" spc="-6" dirty="0">
                <a:solidFill>
                  <a:srgbClr val="CC0000"/>
                </a:solidFill>
                <a:latin typeface="Trebuchet MS"/>
                <a:cs typeface="Trebuchet MS"/>
              </a:rPr>
              <a:t>                         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tr-TR" sz="700" i="1" dirty="0">
              <a:solidFill>
                <a:srgbClr val="CC0000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0"/>
              </a:spcBef>
            </a:pPr>
            <a:endParaRPr sz="705">
              <a:latin typeface="Trebuchet MS"/>
              <a:cs typeface="Trebuchet MS"/>
            </a:endParaRPr>
          </a:p>
          <a:p>
            <a:pPr marL="7620">
              <a:tabLst>
                <a:tab pos="3932577" algn="l"/>
              </a:tabLst>
            </a:pPr>
            <a:r>
              <a:rPr lang="tr-TR" sz="2000" b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    </a:t>
            </a:r>
            <a:r>
              <a:rPr lang="tr-TR" sz="20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                                                             </a:t>
            </a:r>
            <a:r>
              <a:rPr lang="tr-TR" sz="24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</a:t>
            </a:r>
            <a:r>
              <a:rPr lang="tr-TR" sz="28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   </a:t>
            </a:r>
            <a:r>
              <a:rPr sz="3200" b="1" i="1" spc="-35" dirty="0" err="1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Takım</a:t>
            </a:r>
            <a:r>
              <a:rPr sz="3200" b="1" i="1" spc="-12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 </a:t>
            </a:r>
            <a:r>
              <a:rPr sz="3200" b="1" i="1" spc="-6" dirty="0" err="1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Hakkında</a:t>
            </a:r>
            <a:r>
              <a:rPr sz="3200" b="1" i="1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Century Gothic"/>
                <a:cs typeface="Segoe UI"/>
              </a:rPr>
              <a:t>	</a:t>
            </a:r>
            <a:endParaRPr sz="3200" i="1">
              <a:latin typeface="Century Gothic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9881" y="1208487"/>
            <a:ext cx="3424609" cy="4509229"/>
          </a:xfrm>
          <a:prstGeom prst="rect">
            <a:avLst/>
          </a:prstGeom>
        </p:spPr>
        <p:txBody>
          <a:bodyPr vert="horz" wrap="square" lIns="0" tIns="46019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362"/>
              </a:spcBef>
            </a:pPr>
            <a:r>
              <a:rPr sz="1400" b="1" i="1" spc="-6" dirty="0" err="1">
                <a:solidFill>
                  <a:srgbClr val="CC0000"/>
                </a:solidFill>
                <a:latin typeface="Century Gothic"/>
                <a:cs typeface="Trebuchet MS"/>
              </a:rPr>
              <a:t>Vizyon</a:t>
            </a:r>
            <a:endParaRPr lang="tr-TR" sz="1400" i="1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3175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KARONEXT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olarak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vizyonumuz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;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lang="tr-TR" sz="140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tr-TR" sz="1400" spc="-29" dirty="0">
                <a:solidFill>
                  <a:schemeClr val="tx1"/>
                </a:solidFill>
                <a:latin typeface="Century Gothic"/>
                <a:cs typeface="Tahoma"/>
              </a:rPr>
              <a:t>gelenek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sel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lang="tr-TR" sz="140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yöntemlerin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tıkandığı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noktada</a:t>
            </a:r>
            <a:r>
              <a:rPr lang="tr-TR"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>
                <a:solidFill>
                  <a:schemeClr val="tx1"/>
                </a:solidFill>
                <a:latin typeface="Century Gothic"/>
                <a:cs typeface="Tahoma"/>
              </a:rPr>
              <a:t>	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 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ileri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seviye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optimizasyon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mimarileriyle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yerli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çözümler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üretmek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;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bilginin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bilgeliğini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,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Türkiye’nin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teknolojik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bağımsızlığına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hizmet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eden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yüksek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katma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değerli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projelere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dönüştürmektir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lang="en-US" sz="1400" dirty="0" err="1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 marR="3175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latin typeface="Tahoma"/>
              <a:cs typeface="Tahoma"/>
            </a:endParaRPr>
          </a:p>
          <a:p>
            <a:pPr marL="7620" marR="3175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latin typeface="Century Gothic"/>
              <a:cs typeface="Tahoma"/>
            </a:endParaRPr>
          </a:p>
          <a:p>
            <a:pPr marL="7620">
              <a:spcBef>
                <a:spcPts val="362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lang="en-US" sz="1400" b="1" i="1" spc="-16" dirty="0" err="1">
                <a:solidFill>
                  <a:srgbClr val="CC0000"/>
                </a:solidFill>
                <a:latin typeface="Century Gothic"/>
                <a:cs typeface="Tahoma"/>
              </a:rPr>
              <a:t>Misyon</a:t>
            </a:r>
            <a:endParaRPr lang="en-US" sz="1400" i="1" spc="-16">
              <a:latin typeface="Century Gothic"/>
              <a:cs typeface="Tahoma"/>
            </a:endParaRPr>
          </a:p>
          <a:p>
            <a:pPr marL="7620" marR="3175" algn="just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Misyonumuz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akademik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disiplini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,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endüstriyel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standartlarda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yazılım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modelleme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süreçlerine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dönüştürmek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;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Teknofest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için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geliştirdiğimiz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projelerle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yüksek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katma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değerli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,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etik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sürdürülebilir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teknoloji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çıktıları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üreterek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toplumsal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fayda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en-US"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sağlamaktır</a:t>
            </a:r>
            <a:r>
              <a:rPr lang="en-US" sz="1400" spc="-1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lang="en-US" dirty="0">
              <a:solidFill>
                <a:schemeClr val="tx1"/>
              </a:solidFill>
              <a:latin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6112" y="4460554"/>
            <a:ext cx="2076449" cy="257325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1600" b="1" i="1" dirty="0" err="1">
                <a:solidFill>
                  <a:srgbClr val="CC0000"/>
                </a:solidFill>
                <a:latin typeface="Trebuchet MS"/>
                <a:cs typeface="Trebuchet MS"/>
              </a:rPr>
              <a:t>Çalışma</a:t>
            </a:r>
            <a:r>
              <a:rPr sz="1600" b="1" i="1" spc="-58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lang="tr-TR" sz="1600" b="1" i="1" spc="-6" dirty="0">
                <a:solidFill>
                  <a:srgbClr val="CC0000"/>
                </a:solidFill>
                <a:latin typeface="Trebuchet MS"/>
                <a:cs typeface="Trebuchet MS"/>
              </a:rPr>
              <a:t>Alanlarımız</a:t>
            </a:r>
            <a:endParaRPr sz="1600" i="1" dirty="0" err="1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4461" y="4916491"/>
            <a:ext cx="3611759" cy="1454211"/>
          </a:xfrm>
          <a:prstGeom prst="rect">
            <a:avLst/>
          </a:prstGeom>
        </p:spPr>
        <p:txBody>
          <a:bodyPr vert="horz" wrap="square" lIns="0" tIns="32987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260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0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Nöral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Mimari</a:t>
            </a:r>
            <a:endParaRPr lang="tr-TR"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5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Doğal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Dil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İşleme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(NLP)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7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Bilgisayarlı</a:t>
            </a:r>
            <a:r>
              <a:rPr sz="1400" spc="-7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Görü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4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32" dirty="0">
                <a:solidFill>
                  <a:schemeClr val="tx1"/>
                </a:solidFill>
                <a:latin typeface="Century Gothic"/>
                <a:cs typeface="Tahoma"/>
              </a:rPr>
              <a:t>Veri</a:t>
            </a:r>
            <a:r>
              <a:rPr sz="14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Analizi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35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Sinir</a:t>
            </a:r>
            <a:r>
              <a:rPr sz="14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9" dirty="0" err="1">
                <a:solidFill>
                  <a:schemeClr val="tx1"/>
                </a:solidFill>
                <a:latin typeface="Century Gothic"/>
                <a:cs typeface="Tahoma"/>
              </a:rPr>
              <a:t>Ağı</a:t>
            </a:r>
            <a:r>
              <a:rPr sz="1400" spc="-8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Programlama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Optimizasyon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Algoritmaları</a:t>
            </a:r>
            <a:endParaRPr sz="1400" err="1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0640" y="4919779"/>
            <a:ext cx="3437644" cy="1213119"/>
          </a:xfrm>
          <a:prstGeom prst="rect">
            <a:avLst/>
          </a:prstGeom>
        </p:spPr>
        <p:txBody>
          <a:bodyPr vert="horz" wrap="square" lIns="0" tIns="32987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260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54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Hibrit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Yazılım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Geliştirme</a:t>
            </a:r>
            <a:endParaRPr lang="tr-TR"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4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6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r>
              <a:rPr sz="14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Geliştirme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Algoritmik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Mimari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6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48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Etiği</a:t>
            </a:r>
            <a:r>
              <a:rPr sz="14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Güvenli</a:t>
            </a:r>
            <a:r>
              <a:rPr sz="14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4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400" spc="180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Üretken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48" dirty="0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7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5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Sentetik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>
                <a:solidFill>
                  <a:schemeClr val="tx1"/>
                </a:solidFill>
                <a:latin typeface="Century Gothic"/>
                <a:cs typeface="Tahoma"/>
              </a:rPr>
              <a:t>Veri</a:t>
            </a:r>
            <a:endParaRPr sz="1400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27919062-8CDB-2F7A-21E0-1DDA39843C08}"/>
              </a:ext>
            </a:extLst>
          </p:cNvPr>
          <p:cNvSpPr txBox="1"/>
          <p:nvPr/>
        </p:nvSpPr>
        <p:spPr>
          <a:xfrm>
            <a:off x="4000072" y="1517022"/>
            <a:ext cx="3199288" cy="2121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entury Gothic"/>
              <a:cs typeface="Times New Roman"/>
            </a:endParaRPr>
          </a:p>
          <a:p>
            <a:pPr>
              <a:spcBef>
                <a:spcPts val="731"/>
              </a:spcBef>
            </a:pPr>
            <a:r>
              <a:rPr lang="en-US" sz="1400" b="1" dirty="0">
                <a:solidFill>
                  <a:schemeClr val="tx1"/>
                </a:solidFill>
                <a:latin typeface="Century Gothic"/>
              </a:rPr>
              <a:t>KARONEXT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yapay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zeka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teknolojilerini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yerli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milli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imkanlarla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geliştirerek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akademik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bilgiyi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yüksek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katma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değerli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projelere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dönüştürmek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amacıyla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kurulmuştur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Takımımız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teknolojide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sürekli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yenilenmeyi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ve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mükemmelliği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 </a:t>
            </a:r>
            <a:r>
              <a:rPr lang="tr-TR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hedefler</a:t>
            </a:r>
            <a:r>
              <a:rPr lang="en-US" sz="1400" dirty="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.</a:t>
            </a:r>
            <a:endParaRPr lang="tr-TR" dirty="0">
              <a:solidFill>
                <a:schemeClr val="tx1"/>
              </a:solidFill>
              <a:latin typeface="Century Gothic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924CD67-390A-AC94-D564-2DF98D2F4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57" y="986970"/>
            <a:ext cx="2881087" cy="2968173"/>
          </a:xfrm>
          <a:prstGeom prst="rect">
            <a:avLst/>
          </a:prstGeom>
        </p:spPr>
      </p:pic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CBAD2372-9750-84F2-907D-11020500AC73}"/>
              </a:ext>
            </a:extLst>
          </p:cNvPr>
          <p:cNvSpPr/>
          <p:nvPr/>
        </p:nvSpPr>
        <p:spPr>
          <a:xfrm>
            <a:off x="516112" y="1052075"/>
            <a:ext cx="7056849" cy="29477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FCFB65FE-C75D-FFA4-E898-A79B9BF9A8AE}"/>
              </a:ext>
            </a:extLst>
          </p:cNvPr>
          <p:cNvSpPr/>
          <p:nvPr/>
        </p:nvSpPr>
        <p:spPr>
          <a:xfrm>
            <a:off x="7940195" y="1091776"/>
            <a:ext cx="3761667" cy="23225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9CA4163A-71F0-755A-67B2-1DD1B31D41C8}"/>
              </a:ext>
            </a:extLst>
          </p:cNvPr>
          <p:cNvSpPr/>
          <p:nvPr/>
        </p:nvSpPr>
        <p:spPr>
          <a:xfrm>
            <a:off x="7940194" y="3428575"/>
            <a:ext cx="3761667" cy="23225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1A7E3651-D652-5EFB-9414-DA58A6BF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5" b="1"/>
          <a:stretch>
            <a:fillRect/>
          </a:stretch>
        </p:blipFill>
        <p:spPr>
          <a:xfrm>
            <a:off x="0" y="-7257"/>
            <a:ext cx="12191998" cy="68579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110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D5F65C00-0D5F-90C6-67AE-C389033F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6" b="-1"/>
          <a:stretch>
            <a:fillRect/>
          </a:stretch>
        </p:blipFill>
        <p:spPr>
          <a:xfrm>
            <a:off x="1" y="7258"/>
            <a:ext cx="12191997" cy="685074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53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62819" y="362542"/>
            <a:ext cx="1977562" cy="318880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2000" b="1" i="1" spc="-16" dirty="0" err="1">
                <a:solidFill>
                  <a:srgbClr val="CC0000"/>
                </a:solidFill>
                <a:latin typeface="Trebuchet MS"/>
                <a:cs typeface="Trebuchet MS"/>
              </a:rPr>
              <a:t>Takım</a:t>
            </a:r>
            <a:r>
              <a:rPr sz="2000" b="1" i="1" spc="-71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Bilgileri</a:t>
            </a:r>
            <a:endParaRPr sz="2000" i="1" err="1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3480" y="3908491"/>
            <a:ext cx="2345035" cy="31723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73"/>
              </a:spcBef>
            </a:pPr>
            <a:r>
              <a:rPr b="1" spc="-73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b="1" i="1" spc="-35" dirty="0" err="1">
                <a:solidFill>
                  <a:srgbClr val="CC0000"/>
                </a:solidFill>
                <a:latin typeface="Trebuchet MS"/>
                <a:cs typeface="Trebuchet MS"/>
              </a:rPr>
              <a:t>T</a:t>
            </a:r>
            <a:r>
              <a:rPr sz="2000" b="1" i="1" spc="-35" dirty="0" err="1">
                <a:solidFill>
                  <a:srgbClr val="CC0000"/>
                </a:solidFill>
                <a:latin typeface="Trebuchet MS"/>
                <a:cs typeface="Trebuchet MS"/>
              </a:rPr>
              <a:t>akım</a:t>
            </a:r>
            <a:r>
              <a:rPr sz="2000" b="1" i="1" spc="-11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b="1" i="1" spc="-22" dirty="0" err="1">
                <a:solidFill>
                  <a:srgbClr val="CC0000"/>
                </a:solidFill>
                <a:latin typeface="Trebuchet MS"/>
                <a:cs typeface="Trebuchet MS"/>
              </a:rPr>
              <a:t>Üyeleri</a:t>
            </a:r>
            <a:endParaRPr sz="2000" err="1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5</a:t>
            </a:fld>
            <a:endParaRPr spc="-32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F445CFE-CA7D-B754-3858-762667BB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508" y="847725"/>
            <a:ext cx="7081611" cy="2731407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1270789B-CF5A-88F2-5174-579091694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78" y="4353832"/>
            <a:ext cx="7175500" cy="2119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055422" y="421049"/>
            <a:ext cx="2101642" cy="380435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2400" b="1" i="1" spc="-19" dirty="0" err="1">
                <a:solidFill>
                  <a:srgbClr val="CC0000"/>
                </a:solidFill>
                <a:latin typeface="Trebuchet MS"/>
                <a:cs typeface="Trebuchet MS"/>
              </a:rPr>
              <a:t>Üye</a:t>
            </a:r>
            <a:r>
              <a:rPr sz="2400" b="1" i="1" spc="-77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Detayları</a:t>
            </a:r>
            <a:endParaRPr sz="2400" i="1" err="1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7671" y="1237156"/>
            <a:ext cx="9919188" cy="1037925"/>
          </a:xfrm>
          <a:prstGeom prst="rect">
            <a:avLst/>
          </a:prstGeom>
        </p:spPr>
        <p:txBody>
          <a:bodyPr vert="horz" wrap="square" lIns="0" tIns="17919" rIns="0" bIns="0" rtlCol="0" anchor="t">
            <a:spAutoFit/>
          </a:bodyPr>
          <a:lstStyle/>
          <a:p>
            <a:pPr>
              <a:spcBef>
                <a:spcPts val="141"/>
              </a:spcBef>
              <a:tabLst>
                <a:tab pos="3235407" algn="l"/>
              </a:tabLst>
            </a:pPr>
            <a:r>
              <a:rPr sz="1400" b="1" spc="-16" dirty="0">
                <a:solidFill>
                  <a:schemeClr val="tx1"/>
                </a:solidFill>
                <a:latin typeface="Century Gothic"/>
                <a:cs typeface="Trebuchet MS"/>
              </a:rPr>
              <a:t>Rabia</a:t>
            </a:r>
            <a:r>
              <a:rPr sz="1400" b="1" spc="-64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b="1" dirty="0">
                <a:solidFill>
                  <a:schemeClr val="tx1"/>
                </a:solidFill>
                <a:latin typeface="Century Gothic"/>
                <a:cs typeface="Trebuchet MS"/>
              </a:rPr>
              <a:t>Sıla</a:t>
            </a:r>
            <a:r>
              <a:rPr sz="1400" b="1" spc="-6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b="1" spc="-6">
                <a:solidFill>
                  <a:schemeClr val="tx1"/>
                </a:solidFill>
                <a:latin typeface="Century Gothic"/>
                <a:cs typeface="Trebuchet MS"/>
              </a:rPr>
              <a:t>KARACA</a:t>
            </a:r>
            <a:r>
              <a:rPr lang="tr-TR" sz="1400" b="1" dirty="0">
                <a:solidFill>
                  <a:schemeClr val="tx1"/>
                </a:solidFill>
                <a:latin typeface="Century Gothic"/>
                <a:cs typeface="Trebuchet MS"/>
              </a:rPr>
              <a:t>  </a:t>
            </a:r>
            <a:r>
              <a:rPr lang="tr-TR" sz="1400" b="1" dirty="0">
                <a:solidFill>
                  <a:schemeClr val="tx1"/>
                </a:solidFill>
                <a:latin typeface="Century Gothic"/>
                <a:cs typeface="Lucida Sans Unicode"/>
              </a:rPr>
              <a:t>                                                                                                                                          </a:t>
            </a:r>
            <a:r>
              <a:rPr sz="1400" spc="109">
                <a:solidFill>
                  <a:schemeClr val="tx1"/>
                </a:solidFill>
                <a:latin typeface="Century Gothic"/>
                <a:cs typeface="Lucida Sans Unicode"/>
              </a:rPr>
              <a:t>⋆</a:t>
            </a:r>
            <a:r>
              <a:rPr sz="1400" spc="-93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400" b="1" spc="-26" dirty="0">
                <a:solidFill>
                  <a:schemeClr val="tx1"/>
                </a:solidFill>
                <a:latin typeface="Century Gothic"/>
                <a:cs typeface="Trebuchet MS"/>
              </a:rPr>
              <a:t>KAPTAN</a:t>
            </a:r>
            <a:endParaRPr lang="tr-TR"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>
              <a:lnSpc>
                <a:spcPct val="100000"/>
              </a:lnSpc>
              <a:spcBef>
                <a:spcPts val="67"/>
              </a:spcBef>
            </a:pPr>
            <a:r>
              <a:rPr sz="1400" spc="-45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6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Mühendisliği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Proje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Century Gothic"/>
                <a:cs typeface="Tahoma"/>
              </a:rPr>
              <a:t>Yönetimi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Koordinasyon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r>
              <a:rPr sz="1400" spc="-22" dirty="0" err="1">
                <a:solidFill>
                  <a:schemeClr val="tx1"/>
                </a:solidFill>
                <a:latin typeface="Century Gothic"/>
                <a:cs typeface="Tahoma"/>
              </a:rPr>
              <a:t>Takımın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kurucu</a:t>
            </a:r>
            <a:r>
              <a:rPr sz="1400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Century Gothic"/>
                <a:cs typeface="Tahoma"/>
              </a:rPr>
              <a:t>lideri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olarak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Century Gothic"/>
                <a:cs typeface="Tahoma"/>
              </a:rPr>
              <a:t>stratejik</a:t>
            </a:r>
            <a:r>
              <a:rPr sz="1400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Century Gothic"/>
                <a:cs typeface="Tahoma"/>
              </a:rPr>
              <a:t>proje</a:t>
            </a:r>
            <a:r>
              <a:rPr sz="1400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planlaması</a:t>
            </a:r>
            <a:r>
              <a:rPr sz="1400" spc="-13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Century Gothic"/>
                <a:cs typeface="Tahoma"/>
              </a:rPr>
              <a:t>kaynak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yönetimi</a:t>
            </a:r>
            <a:r>
              <a:rPr sz="1400" spc="-16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spc="-61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Century Gothic"/>
                <a:cs typeface="Tahoma"/>
              </a:rPr>
              <a:t>görev</a:t>
            </a:r>
            <a:r>
              <a:rPr sz="1400" spc="-58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dağılımı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disiplinler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arası</a:t>
            </a:r>
            <a:r>
              <a:rPr sz="1400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teknik</a:t>
            </a:r>
            <a:r>
              <a:rPr sz="1400" spc="-4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koordinasyon</a:t>
            </a:r>
            <a:r>
              <a:rPr sz="1400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süreçlerini</a:t>
            </a:r>
            <a:r>
              <a:rPr sz="1400" spc="-4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yönetmektedir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sz="1400" spc="-6" dirty="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endParaRPr lang="tr-TR" sz="700" spc="-6" dirty="0">
              <a:solidFill>
                <a:srgbClr val="2C3E50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7671" y="2577619"/>
            <a:ext cx="9911523" cy="909620"/>
          </a:xfrm>
          <a:prstGeom prst="rect">
            <a:avLst/>
          </a:prstGeom>
        </p:spPr>
        <p:txBody>
          <a:bodyPr vert="horz" wrap="square" lIns="0" tIns="17919" rIns="0" bIns="0" rtlCol="0" anchor="t">
            <a:spAutoFit/>
          </a:bodyPr>
          <a:lstStyle/>
          <a:p>
            <a:pPr>
              <a:spcBef>
                <a:spcPts val="141"/>
              </a:spcBef>
              <a:tabLst>
                <a:tab pos="3534310" algn="l"/>
              </a:tabLst>
            </a:pPr>
            <a:r>
              <a:rPr sz="1400" b="1" spc="-13" dirty="0">
                <a:solidFill>
                  <a:schemeClr val="tx1"/>
                </a:solidFill>
                <a:latin typeface="Century Gothic"/>
                <a:cs typeface="Trebuchet MS"/>
              </a:rPr>
              <a:t>Sena</a:t>
            </a:r>
            <a:r>
              <a:rPr sz="1400" b="1" spc="-6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lang="tr-TR" sz="1400" b="1" spc="-61">
                <a:solidFill>
                  <a:schemeClr val="tx1"/>
                </a:solidFill>
                <a:latin typeface="Century Gothic"/>
                <a:cs typeface="Trebuchet MS"/>
              </a:rPr>
              <a:t>Z.</a:t>
            </a:r>
            <a:r>
              <a:rPr lang="tr-TR" sz="1400" b="1" spc="-32" dirty="0">
                <a:solidFill>
                  <a:schemeClr val="tx1"/>
                </a:solidFill>
                <a:latin typeface="Century Gothic"/>
                <a:cs typeface="Trebuchet MS"/>
              </a:rPr>
              <a:t> </a:t>
            </a:r>
            <a:r>
              <a:rPr lang="tr-TR" sz="1400" b="1" spc="-6">
                <a:solidFill>
                  <a:schemeClr val="tx1"/>
                </a:solidFill>
                <a:latin typeface="Century Gothic"/>
                <a:cs typeface="Trebuchet MS"/>
              </a:rPr>
              <a:t>HAFIZOĞLU                                                                                                                                  </a:t>
            </a:r>
            <a:r>
              <a:rPr sz="1400" dirty="0">
                <a:solidFill>
                  <a:schemeClr val="tx1"/>
                </a:solidFill>
                <a:latin typeface="Century Gothic"/>
                <a:cs typeface="Trebuchet MS"/>
              </a:rPr>
              <a:t>	</a:t>
            </a:r>
            <a:endParaRPr lang="tr-TR" sz="1400" spc="-16" dirty="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"/>
              </a:spcBef>
            </a:pPr>
            <a:r>
              <a:rPr sz="1400" spc="-45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Mühendisliği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400" spc="-64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lang="tr-TR" sz="1400" spc="-45" dirty="0">
                <a:solidFill>
                  <a:schemeClr val="tx1"/>
                </a:solidFill>
                <a:latin typeface="Century Gothic"/>
                <a:cs typeface="Tahoma"/>
              </a:rPr>
              <a:t>AR-</a:t>
            </a:r>
            <a:r>
              <a:rPr lang="tr-TR" sz="1400" spc="-16" dirty="0">
                <a:solidFill>
                  <a:schemeClr val="tx1"/>
                </a:solidFill>
                <a:latin typeface="Century Gothic"/>
                <a:cs typeface="Tahoma"/>
              </a:rPr>
              <a:t>GE</a:t>
            </a:r>
            <a:endParaRPr sz="1400">
              <a:solidFill>
                <a:schemeClr val="tx1"/>
              </a:solidFill>
              <a:latin typeface="Century Gothic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r>
              <a:rPr sz="1400" spc="-19" dirty="0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r>
              <a:rPr sz="1400" spc="-29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mimarilerinin</a:t>
            </a:r>
            <a:r>
              <a:rPr sz="1400" spc="-2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tasarımı</a:t>
            </a:r>
            <a:r>
              <a:rPr sz="1400" spc="-16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spc="-19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r>
              <a:rPr sz="1400" spc="-22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Century Gothic"/>
                <a:cs typeface="Tahoma"/>
              </a:rPr>
              <a:t>eğitimi</a:t>
            </a:r>
            <a:r>
              <a:rPr sz="1400" spc="-13" dirty="0">
                <a:solidFill>
                  <a:schemeClr val="tx1"/>
                </a:solidFill>
                <a:latin typeface="Century Gothic"/>
                <a:cs typeface="Tahoma"/>
              </a:rPr>
              <a:t>,</a:t>
            </a:r>
            <a:r>
              <a:rPr sz="1400" spc="-19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Century Gothic"/>
                <a:cs typeface="Tahoma"/>
              </a:rPr>
              <a:t>hiperparametre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optimizasyonu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9" dirty="0" err="1">
                <a:solidFill>
                  <a:schemeClr val="tx1"/>
                </a:solidFill>
                <a:latin typeface="Century Gothic"/>
                <a:cs typeface="Tahoma"/>
              </a:rPr>
              <a:t>ve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Century Gothic"/>
                <a:cs typeface="Tahoma"/>
              </a:rPr>
              <a:t>ileri</a:t>
            </a:r>
            <a:r>
              <a:rPr sz="1400" spc="-2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seviye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9" dirty="0" err="1">
                <a:solidFill>
                  <a:schemeClr val="tx1"/>
                </a:solidFill>
                <a:latin typeface="Century Gothic"/>
                <a:cs typeface="Tahoma"/>
              </a:rPr>
              <a:t>yapay</a:t>
            </a:r>
            <a:r>
              <a:rPr sz="1400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Century Gothic"/>
                <a:cs typeface="Tahoma"/>
              </a:rPr>
              <a:t>zeka</a:t>
            </a:r>
            <a:r>
              <a:rPr sz="1400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Century Gothic"/>
                <a:cs typeface="Tahoma"/>
              </a:rPr>
              <a:t>araştırmaları</a:t>
            </a:r>
            <a:r>
              <a:rPr sz="1400" spc="-45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Century Gothic"/>
                <a:cs typeface="Tahoma"/>
              </a:rPr>
              <a:t>yürütmektedir</a:t>
            </a:r>
            <a:r>
              <a:rPr sz="1400" spc="-6" dirty="0">
                <a:solidFill>
                  <a:schemeClr val="tx1"/>
                </a:solidFill>
                <a:latin typeface="Century Gothic"/>
                <a:cs typeface="Tahoma"/>
              </a:rPr>
              <a:t>.</a:t>
            </a:r>
            <a:endParaRPr sz="1400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6</a:t>
            </a:fld>
            <a:endParaRPr spc="-32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F3AEC9FA-D131-5B8D-C392-AECDC5A3B196}"/>
              </a:ext>
            </a:extLst>
          </p:cNvPr>
          <p:cNvSpPr txBox="1"/>
          <p:nvPr/>
        </p:nvSpPr>
        <p:spPr>
          <a:xfrm>
            <a:off x="1294258" y="3908381"/>
            <a:ext cx="1008017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b="1" dirty="0">
                <a:solidFill>
                  <a:schemeClr val="tx1"/>
                </a:solidFill>
                <a:latin typeface="Century Gothic"/>
              </a:rPr>
              <a:t>Furkan TAŞDELEN                                                                                                                                                     </a:t>
            </a:r>
          </a:p>
          <a:p>
            <a:pPr algn="l"/>
            <a:r>
              <a:rPr lang="tr-TR" sz="140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Bilgisayar Programcılığı – Backend Geliştirme ve Veritabanı Yönetimi Sunucu taraflı geliştirme, veritabanı tasarımı ve performans optimizasyonu konularında çalışır.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31A9219-63A7-F4C0-DC75-C7908C6CE84D}"/>
              </a:ext>
            </a:extLst>
          </p:cNvPr>
          <p:cNvSpPr txBox="1"/>
          <p:nvPr/>
        </p:nvSpPr>
        <p:spPr>
          <a:xfrm>
            <a:off x="1274862" y="5157100"/>
            <a:ext cx="1008167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b="1" dirty="0">
                <a:solidFill>
                  <a:schemeClr val="tx1"/>
                </a:solidFill>
                <a:latin typeface="Century Gothic"/>
              </a:rPr>
              <a:t>Arda ELİBÜYÜK                                                                                                                                                         </a:t>
            </a:r>
            <a:endParaRPr lang="tr-TR" sz="1400" b="1">
              <a:solidFill>
                <a:schemeClr val="tx1"/>
              </a:solidFill>
              <a:latin typeface="Century Gothic"/>
            </a:endParaRPr>
          </a:p>
          <a:p>
            <a:pPr algn="l"/>
            <a:r>
              <a:rPr lang="tr-TR" sz="1400">
                <a:solidFill>
                  <a:schemeClr val="tx1"/>
                </a:solidFill>
                <a:latin typeface="Century Gothic"/>
                <a:ea typeface="Tahoma"/>
                <a:cs typeface="Tahoma"/>
              </a:rPr>
              <a:t>Bilgisayar Programcılığı – Yazılım Geliştirme ve Entegrasyon Proje yazılım altyapısının geliştirilmesi, API entegrasyonları ve sistem mimarisi üzerine çalışır.</a:t>
            </a:r>
          </a:p>
          <a:p>
            <a:pPr algn="l"/>
            <a:endParaRPr lang="tr-TR" sz="1400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9044AA5-2497-3B6E-D974-E4407D683B87}"/>
              </a:ext>
            </a:extLst>
          </p:cNvPr>
          <p:cNvSpPr/>
          <p:nvPr/>
        </p:nvSpPr>
        <p:spPr>
          <a:xfrm>
            <a:off x="1284945" y="1071926"/>
            <a:ext cx="10080171" cy="121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2658114-BEBB-8F0B-D464-7620D034F94F}"/>
              </a:ext>
            </a:extLst>
          </p:cNvPr>
          <p:cNvSpPr/>
          <p:nvPr/>
        </p:nvSpPr>
        <p:spPr>
          <a:xfrm>
            <a:off x="1290281" y="2500413"/>
            <a:ext cx="10087428" cy="1074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857B091-14E9-0E89-D0E6-E51D083ADDBD}"/>
              </a:ext>
            </a:extLst>
          </p:cNvPr>
          <p:cNvSpPr/>
          <p:nvPr/>
        </p:nvSpPr>
        <p:spPr>
          <a:xfrm>
            <a:off x="1280356" y="3814068"/>
            <a:ext cx="10093973" cy="1101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D91F658-7291-BEF3-0D52-D0E6E5291546}"/>
              </a:ext>
            </a:extLst>
          </p:cNvPr>
          <p:cNvSpPr/>
          <p:nvPr/>
        </p:nvSpPr>
        <p:spPr>
          <a:xfrm>
            <a:off x="1244070" y="5064328"/>
            <a:ext cx="10103899" cy="11314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482108" y="714321"/>
            <a:ext cx="4616592" cy="84045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spcBef>
                <a:spcPts val="73"/>
              </a:spcBef>
            </a:pPr>
            <a:r>
              <a:rPr lang="tr-TR" sz="2000" b="1" spc="-35" dirty="0">
                <a:solidFill>
                  <a:srgbClr val="CC0000"/>
                </a:solidFill>
                <a:latin typeface="Century Gothic"/>
                <a:cs typeface="Trebuchet MS"/>
              </a:rPr>
              <a:t> </a:t>
            </a:r>
            <a:r>
              <a:rPr sz="2000" b="1" spc="-35" dirty="0">
                <a:solidFill>
                  <a:srgbClr val="CC0000"/>
                </a:solidFill>
                <a:latin typeface="Century Gothic"/>
                <a:cs typeface="Trebuchet MS"/>
              </a:rPr>
              <a:t> </a:t>
            </a:r>
            <a:r>
              <a:rPr lang="tr-TR" sz="2000" b="1" i="1" spc="-35" dirty="0">
                <a:solidFill>
                  <a:srgbClr val="CC0000"/>
                </a:solidFill>
                <a:latin typeface="Century Gothic"/>
                <a:cs typeface="Trebuchet MS"/>
              </a:rPr>
              <a:t> </a:t>
            </a:r>
            <a:r>
              <a:rPr sz="2000" b="1" i="1" spc="-35" dirty="0" err="1">
                <a:solidFill>
                  <a:srgbClr val="CC0000"/>
                </a:solidFill>
                <a:latin typeface="Century Gothic"/>
                <a:cs typeface="Trebuchet MS"/>
              </a:rPr>
              <a:t>Takım</a:t>
            </a:r>
            <a:r>
              <a:rPr sz="2000" b="1" i="1" spc="-115" dirty="0">
                <a:solidFill>
                  <a:srgbClr val="CC0000"/>
                </a:solidFill>
                <a:latin typeface="Century Gothic"/>
                <a:cs typeface="Trebuchet MS"/>
              </a:rPr>
              <a:t> </a:t>
            </a:r>
            <a:r>
              <a:rPr sz="2000" b="1" i="1" spc="-32" dirty="0" err="1">
                <a:solidFill>
                  <a:srgbClr val="CC0000"/>
                </a:solidFill>
                <a:latin typeface="Century Gothic"/>
                <a:cs typeface="Trebuchet MS"/>
              </a:rPr>
              <a:t>Yetkinlikleri</a:t>
            </a:r>
            <a:endParaRPr i="1" dirty="0" err="1">
              <a:latin typeface="Century Gothic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4"/>
              </a:spcBef>
            </a:pPr>
            <a:endParaRPr sz="1200">
              <a:latin typeface="Trebuchet MS"/>
              <a:cs typeface="Trebuchet MS"/>
            </a:endParaRPr>
          </a:p>
          <a:p>
            <a:pPr marL="7620">
              <a:lnSpc>
                <a:spcPct val="100000"/>
              </a:lnSpc>
            </a:pPr>
            <a:endParaRPr sz="1200" b="1" spc="-6" dirty="0">
              <a:solidFill>
                <a:srgbClr val="CC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6525" y="1315979"/>
            <a:ext cx="6082894" cy="1048442"/>
          </a:xfrm>
          <a:prstGeom prst="rect">
            <a:avLst/>
          </a:prstGeom>
        </p:spPr>
        <p:txBody>
          <a:bodyPr vert="horz" wrap="square" lIns="0" tIns="24842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6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13" dirty="0">
                <a:solidFill>
                  <a:schemeClr val="tx1"/>
                </a:solidFill>
                <a:latin typeface="Century Gothic"/>
                <a:cs typeface="Trebuchet MS"/>
              </a:rPr>
              <a:t>Python</a:t>
            </a:r>
            <a:r>
              <a:rPr sz="1600" b="1" spc="-64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32" dirty="0">
                <a:solidFill>
                  <a:schemeClr val="tx1"/>
                </a:solidFill>
                <a:latin typeface="Century Gothic"/>
                <a:cs typeface="Tahoma"/>
              </a:rPr>
              <a:t>Ana</a:t>
            </a:r>
            <a:r>
              <a:rPr sz="1600" spc="-7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19" dirty="0" err="1">
                <a:solidFill>
                  <a:schemeClr val="tx1"/>
                </a:solidFill>
                <a:latin typeface="Century Gothic"/>
                <a:cs typeface="Tahoma"/>
              </a:rPr>
              <a:t>geliştirme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13" dirty="0" err="1">
                <a:solidFill>
                  <a:schemeClr val="tx1"/>
                </a:solidFill>
                <a:latin typeface="Century Gothic"/>
                <a:cs typeface="Tahoma"/>
              </a:rPr>
              <a:t>dili</a:t>
            </a:r>
            <a:endParaRPr lang="tr-TR"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28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32" dirty="0">
                <a:solidFill>
                  <a:schemeClr val="tx1"/>
                </a:solidFill>
                <a:latin typeface="Century Gothic"/>
                <a:cs typeface="Trebuchet MS"/>
              </a:rPr>
              <a:t>C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5" dirty="0">
                <a:solidFill>
                  <a:schemeClr val="tx1"/>
                </a:solidFill>
                <a:latin typeface="Century Gothic"/>
                <a:cs typeface="Trebuchet MS"/>
              </a:rPr>
              <a:t>/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2" dirty="0">
                <a:solidFill>
                  <a:schemeClr val="tx1"/>
                </a:solidFill>
                <a:latin typeface="Century Gothic"/>
                <a:cs typeface="Trebuchet MS"/>
              </a:rPr>
              <a:t>C++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26" dirty="0" err="1">
                <a:solidFill>
                  <a:schemeClr val="tx1"/>
                </a:solidFill>
                <a:latin typeface="Century Gothic"/>
                <a:cs typeface="Tahoma"/>
              </a:rPr>
              <a:t>Performans</a:t>
            </a:r>
            <a:r>
              <a:rPr sz="16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kritik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7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29" dirty="0">
                <a:solidFill>
                  <a:schemeClr val="tx1"/>
                </a:solidFill>
                <a:latin typeface="Century Gothic"/>
                <a:cs typeface="Trebuchet MS"/>
              </a:rPr>
              <a:t>TensorFlow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26" dirty="0">
                <a:solidFill>
                  <a:schemeClr val="tx1"/>
                </a:solidFill>
                <a:latin typeface="Century Gothic"/>
                <a:cs typeface="Tahoma"/>
              </a:rPr>
              <a:t>Derin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öğrenme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4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35" dirty="0" err="1">
                <a:solidFill>
                  <a:schemeClr val="tx1"/>
                </a:solidFill>
                <a:latin typeface="Century Gothic"/>
                <a:cs typeface="Trebuchet MS"/>
              </a:rPr>
              <a:t>PyTorch</a:t>
            </a:r>
            <a:r>
              <a:rPr sz="1600" b="1" spc="-7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16" dirty="0">
                <a:solidFill>
                  <a:schemeClr val="tx1"/>
                </a:solidFill>
                <a:latin typeface="Century Gothic"/>
                <a:cs typeface="Tahoma"/>
              </a:rPr>
              <a:t>Model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prototipleme</a:t>
            </a:r>
            <a:endParaRPr sz="1600" err="1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1920" y="1315979"/>
            <a:ext cx="4022117" cy="1048442"/>
          </a:xfrm>
          <a:prstGeom prst="rect">
            <a:avLst/>
          </a:prstGeom>
        </p:spPr>
        <p:txBody>
          <a:bodyPr vert="horz" wrap="square" lIns="0" tIns="24842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4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6" dirty="0">
                <a:solidFill>
                  <a:schemeClr val="tx1"/>
                </a:solidFill>
                <a:latin typeface="Century Gothic"/>
                <a:cs typeface="Trebuchet MS"/>
              </a:rPr>
              <a:t>SQL</a:t>
            </a:r>
            <a:r>
              <a:rPr sz="1600" b="1" spc="-73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5" dirty="0">
                <a:solidFill>
                  <a:schemeClr val="tx1"/>
                </a:solidFill>
                <a:latin typeface="Century Gothic"/>
                <a:cs typeface="Trebuchet MS"/>
              </a:rPr>
              <a:t>/</a:t>
            </a:r>
            <a:r>
              <a:rPr sz="1600" b="1" spc="-73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6" dirty="0">
                <a:solidFill>
                  <a:schemeClr val="tx1"/>
                </a:solidFill>
                <a:latin typeface="Century Gothic"/>
                <a:cs typeface="Trebuchet MS"/>
              </a:rPr>
              <a:t>NoSQL</a:t>
            </a:r>
            <a:r>
              <a:rPr sz="1600" b="1" spc="-73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32" dirty="0">
                <a:solidFill>
                  <a:schemeClr val="tx1"/>
                </a:solidFill>
                <a:latin typeface="Century Gothic"/>
                <a:cs typeface="Tahoma"/>
              </a:rPr>
              <a:t>Veri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yönetimi</a:t>
            </a:r>
            <a:endParaRPr lang="tr-TR"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28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60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22" dirty="0">
                <a:solidFill>
                  <a:schemeClr val="tx1"/>
                </a:solidFill>
                <a:latin typeface="Century Gothic"/>
                <a:cs typeface="Trebuchet MS"/>
              </a:rPr>
              <a:t>Git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45" dirty="0">
                <a:solidFill>
                  <a:schemeClr val="tx1"/>
                </a:solidFill>
                <a:latin typeface="Century Gothic"/>
                <a:cs typeface="Trebuchet MS"/>
              </a:rPr>
              <a:t>/</a:t>
            </a:r>
            <a:r>
              <a:rPr sz="1600" b="1" spc="-67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b="1" spc="-22" dirty="0">
                <a:solidFill>
                  <a:schemeClr val="tx1"/>
                </a:solidFill>
                <a:latin typeface="Century Gothic"/>
                <a:cs typeface="Trebuchet MS"/>
              </a:rPr>
              <a:t>GitHub</a:t>
            </a:r>
            <a:r>
              <a:rPr sz="1600" b="1" spc="-64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29" dirty="0" err="1">
                <a:solidFill>
                  <a:schemeClr val="tx1"/>
                </a:solidFill>
                <a:latin typeface="Century Gothic"/>
                <a:cs typeface="Tahoma"/>
              </a:rPr>
              <a:t>Versiyon</a:t>
            </a:r>
            <a:r>
              <a:rPr sz="1600" spc="-77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kontrolü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51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29" dirty="0">
                <a:solidFill>
                  <a:schemeClr val="tx1"/>
                </a:solidFill>
                <a:latin typeface="Century Gothic"/>
                <a:cs typeface="Trebuchet MS"/>
              </a:rPr>
              <a:t>Docker</a:t>
            </a:r>
            <a:r>
              <a:rPr sz="1600" b="1" spc="-7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0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Konteynerizasyon</a:t>
            </a:r>
            <a:endParaRPr sz="1600">
              <a:solidFill>
                <a:schemeClr val="tx1"/>
              </a:solidFill>
              <a:latin typeface="Century Gothic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chemeClr val="tx1"/>
                </a:solidFill>
                <a:latin typeface="Century Gothic"/>
                <a:cs typeface="Lucida Sans Unicode"/>
              </a:rPr>
              <a:t>▷</a:t>
            </a:r>
            <a:r>
              <a:rPr sz="1600" spc="144" dirty="0">
                <a:solidFill>
                  <a:schemeClr val="tx1"/>
                </a:solidFill>
                <a:latin typeface="Century Gothic"/>
                <a:cs typeface="Lucida Sans Unicode"/>
              </a:rPr>
              <a:t> </a:t>
            </a:r>
            <a:r>
              <a:rPr sz="1600" b="1" spc="-16" dirty="0">
                <a:solidFill>
                  <a:schemeClr val="tx1"/>
                </a:solidFill>
                <a:latin typeface="Century Gothic"/>
                <a:cs typeface="Trebuchet MS"/>
              </a:rPr>
              <a:t>Cloud</a:t>
            </a:r>
            <a:r>
              <a:rPr sz="1600" b="1" spc="-7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600" spc="-55" dirty="0">
                <a:solidFill>
                  <a:schemeClr val="tx1"/>
                </a:solidFill>
                <a:latin typeface="Century Gothic"/>
                <a:cs typeface="Tahoma"/>
              </a:rPr>
              <a:t>–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>
                <a:solidFill>
                  <a:schemeClr val="tx1"/>
                </a:solidFill>
                <a:latin typeface="Century Gothic"/>
                <a:cs typeface="Tahoma"/>
              </a:rPr>
              <a:t>Bulut</a:t>
            </a:r>
            <a:r>
              <a:rPr sz="1600" spc="-83" dirty="0">
                <a:solidFill>
                  <a:schemeClr val="tx1"/>
                </a:solidFill>
                <a:latin typeface="Century Gothic"/>
                <a:cs typeface="Tahoma"/>
              </a:rPr>
              <a:t> </a:t>
            </a:r>
            <a:r>
              <a:rPr sz="1600" spc="-6" dirty="0" err="1">
                <a:solidFill>
                  <a:schemeClr val="tx1"/>
                </a:solidFill>
                <a:latin typeface="Century Gothic"/>
                <a:cs typeface="Tahoma"/>
              </a:rPr>
              <a:t>hizmetleri</a:t>
            </a:r>
            <a:endParaRPr sz="1600" err="1">
              <a:solidFill>
                <a:schemeClr val="tx1"/>
              </a:solidFill>
              <a:latin typeface="Century Gothic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3195" y="3699829"/>
            <a:ext cx="2562133" cy="31723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spcBef>
                <a:spcPts val="73"/>
              </a:spcBef>
            </a:pPr>
            <a:r>
              <a:rPr lang="tr-TR" sz="2000" b="1" i="1" spc="-6">
                <a:solidFill>
                  <a:srgbClr val="CC0000"/>
                </a:solidFill>
                <a:latin typeface="Trebuchet MS"/>
                <a:cs typeface="Trebuchet MS"/>
              </a:rPr>
              <a:t>       İletişim</a:t>
            </a:r>
            <a:endParaRPr sz="2000" i="1" err="1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56717" y="3857904"/>
            <a:ext cx="4681430" cy="2808071"/>
          </a:xfrm>
          <a:prstGeom prst="rect">
            <a:avLst/>
          </a:prstGeom>
        </p:spPr>
        <p:txBody>
          <a:bodyPr vert="horz" wrap="square" lIns="0" tIns="9774" rIns="0" bIns="0" rtlCol="0" anchor="t">
            <a:spAutoFit/>
          </a:bodyPr>
          <a:lstStyle/>
          <a:p>
            <a:pPr marL="550545">
              <a:lnSpc>
                <a:spcPct val="100000"/>
              </a:lnSpc>
              <a:spcBef>
                <a:spcPts val="77"/>
              </a:spcBef>
              <a:tabLst>
                <a:tab pos="790425" algn="l"/>
                <a:tab pos="1705460" algn="l"/>
              </a:tabLst>
            </a:pPr>
            <a:endParaRPr lang="tr-TR" sz="1200" b="1" spc="-6" dirty="0">
              <a:solidFill>
                <a:schemeClr val="tx1"/>
              </a:solidFill>
              <a:latin typeface="Century Gothic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 dirty="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78865">
              <a:lnSpc>
                <a:spcPct val="111400"/>
              </a:lnSpc>
            </a:pP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OSTİM</a:t>
            </a:r>
            <a:r>
              <a:rPr sz="1400" i="1" spc="-55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51" dirty="0">
                <a:solidFill>
                  <a:schemeClr val="tx1"/>
                </a:solidFill>
                <a:latin typeface="Century Gothic"/>
                <a:cs typeface="Trebuchet MS"/>
              </a:rPr>
              <a:t>Teknik</a:t>
            </a:r>
            <a:r>
              <a:rPr sz="1400" i="1" spc="-55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6">
                <a:solidFill>
                  <a:schemeClr val="tx1"/>
                </a:solidFill>
                <a:latin typeface="Century Gothic"/>
                <a:cs typeface="Trebuchet MS"/>
              </a:rPr>
              <a:t>Üniversitesi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8">
                <a:solidFill>
                  <a:schemeClr val="tx1"/>
                </a:solidFill>
                <a:latin typeface="Century Gothic"/>
                <a:cs typeface="Trebuchet MS"/>
              </a:rPr>
              <a:t>Yenimahalle</a:t>
            </a:r>
            <a:r>
              <a:rPr sz="1400" i="1" spc="-48" dirty="0">
                <a:solidFill>
                  <a:schemeClr val="tx1"/>
                </a:solidFill>
                <a:latin typeface="Century Gothic"/>
                <a:cs typeface="Trebuchet MS"/>
              </a:rPr>
              <a:t>,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5" dirty="0">
                <a:solidFill>
                  <a:schemeClr val="tx1"/>
                </a:solidFill>
                <a:latin typeface="Century Gothic"/>
                <a:cs typeface="Trebuchet MS"/>
              </a:rPr>
              <a:t>Ankara,</a:t>
            </a:r>
            <a:r>
              <a:rPr sz="1400" i="1" spc="-3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58">
                <a:solidFill>
                  <a:schemeClr val="tx1"/>
                </a:solidFill>
                <a:latin typeface="Century Gothic"/>
                <a:cs typeface="Trebuchet MS"/>
              </a:rPr>
              <a:t>Türkiye</a:t>
            </a:r>
            <a:endParaRPr lang="tr-TR"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78865">
              <a:lnSpc>
                <a:spcPct val="111400"/>
              </a:lnSpc>
            </a:pPr>
            <a:r>
              <a:rPr lang="tr-TR"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 </a:t>
            </a:r>
            <a:r>
              <a:rPr sz="1400" i="1" spc="-38" dirty="0" err="1">
                <a:solidFill>
                  <a:schemeClr val="tx1"/>
                </a:solidFill>
                <a:latin typeface="Century Gothic"/>
                <a:cs typeface="Trebuchet MS"/>
              </a:rPr>
              <a:t>Kuruluş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80" dirty="0" err="1">
                <a:solidFill>
                  <a:schemeClr val="tx1"/>
                </a:solidFill>
                <a:latin typeface="Century Gothic"/>
                <a:cs typeface="Trebuchet MS"/>
              </a:rPr>
              <a:t>Yılı</a:t>
            </a:r>
            <a:r>
              <a:rPr sz="1400" i="1" spc="-80" dirty="0">
                <a:solidFill>
                  <a:schemeClr val="tx1"/>
                </a:solidFill>
                <a:latin typeface="Century Gothic"/>
                <a:cs typeface="Trebuchet MS"/>
              </a:rPr>
              <a:t>:</a:t>
            </a:r>
            <a:r>
              <a:rPr sz="1400" i="1" spc="-26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13" dirty="0">
                <a:solidFill>
                  <a:schemeClr val="tx1"/>
                </a:solidFill>
                <a:latin typeface="Century Gothic"/>
                <a:cs typeface="Trebuchet MS"/>
              </a:rPr>
              <a:t>2026</a:t>
            </a:r>
            <a:endParaRPr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84580">
              <a:lnSpc>
                <a:spcPct val="117700"/>
              </a:lnSpc>
              <a:spcBef>
                <a:spcPts val="48"/>
              </a:spcBef>
            </a:pPr>
            <a:r>
              <a:rPr sz="1400" i="1" spc="-48">
                <a:solidFill>
                  <a:schemeClr val="tx1"/>
                </a:solidFill>
                <a:latin typeface="Century Gothic"/>
                <a:cs typeface="Trebuchet MS"/>
              </a:rPr>
              <a:t>Takım</a:t>
            </a:r>
            <a:r>
              <a:rPr sz="1400" i="1" spc="-5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73">
                <a:solidFill>
                  <a:schemeClr val="tx1"/>
                </a:solidFill>
                <a:latin typeface="Century Gothic"/>
                <a:cs typeface="Trebuchet MS"/>
              </a:rPr>
              <a:t>Türü</a:t>
            </a:r>
            <a:r>
              <a:rPr sz="1400" i="1" spc="-73" dirty="0">
                <a:solidFill>
                  <a:schemeClr val="tx1"/>
                </a:solidFill>
                <a:latin typeface="Century Gothic"/>
                <a:cs typeface="Trebuchet MS"/>
              </a:rPr>
              <a:t>:</a:t>
            </a:r>
            <a:r>
              <a:rPr sz="1400" i="1" spc="-19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8">
                <a:solidFill>
                  <a:schemeClr val="tx1"/>
                </a:solidFill>
                <a:latin typeface="Century Gothic"/>
                <a:cs typeface="Trebuchet MS"/>
              </a:rPr>
              <a:t>Üniversite</a:t>
            </a:r>
            <a:r>
              <a:rPr sz="1400" i="1" spc="-4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5">
                <a:solidFill>
                  <a:schemeClr val="tx1"/>
                </a:solidFill>
                <a:latin typeface="Century Gothic"/>
                <a:cs typeface="Trebuchet MS"/>
              </a:rPr>
              <a:t>(Okul)</a:t>
            </a:r>
            <a:endParaRPr lang="tr-TR"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 marR="1084580">
              <a:lnSpc>
                <a:spcPct val="117700"/>
              </a:lnSpc>
              <a:spcBef>
                <a:spcPts val="48"/>
              </a:spcBef>
            </a:pPr>
            <a:r>
              <a:rPr lang="tr-TR" sz="1400" i="1" spc="-45" dirty="0">
                <a:solidFill>
                  <a:schemeClr val="tx1"/>
                </a:solidFill>
                <a:latin typeface="Century Gothic"/>
                <a:cs typeface="Trebuchet MS"/>
              </a:rPr>
              <a:t> </a:t>
            </a:r>
            <a:r>
              <a:rPr sz="1400" i="1" spc="-51" dirty="0" err="1">
                <a:solidFill>
                  <a:schemeClr val="tx1"/>
                </a:solidFill>
                <a:latin typeface="Century Gothic"/>
                <a:cs typeface="Trebuchet MS"/>
              </a:rPr>
              <a:t>İletişim</a:t>
            </a:r>
            <a:r>
              <a:rPr sz="1400" i="1" spc="-61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51" dirty="0">
                <a:solidFill>
                  <a:schemeClr val="tx1"/>
                </a:solidFill>
                <a:latin typeface="Century Gothic"/>
                <a:cs typeface="Trebuchet MS"/>
              </a:rPr>
              <a:t>No:</a:t>
            </a:r>
            <a:r>
              <a:rPr sz="1400" i="1" spc="-29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8" dirty="0">
                <a:solidFill>
                  <a:schemeClr val="tx1"/>
                </a:solidFill>
                <a:latin typeface="Century Gothic"/>
                <a:cs typeface="Trebuchet MS"/>
              </a:rPr>
              <a:t>0(555)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091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42" dirty="0">
                <a:solidFill>
                  <a:schemeClr val="tx1"/>
                </a:solidFill>
                <a:latin typeface="Century Gothic"/>
                <a:cs typeface="Trebuchet MS"/>
              </a:rPr>
              <a:t>34</a:t>
            </a:r>
            <a:r>
              <a:rPr sz="1400" i="1" spc="-58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16" dirty="0">
                <a:solidFill>
                  <a:schemeClr val="tx1"/>
                </a:solidFill>
                <a:latin typeface="Century Gothic"/>
                <a:cs typeface="Trebuchet MS"/>
              </a:rPr>
              <a:t>37</a:t>
            </a:r>
            <a:endParaRPr sz="1400">
              <a:solidFill>
                <a:schemeClr val="tx1"/>
              </a:solidFill>
              <a:latin typeface="Century Gothic"/>
              <a:cs typeface="Trebuchet MS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400" i="1" spc="-55" dirty="0">
                <a:solidFill>
                  <a:schemeClr val="tx1"/>
                </a:solidFill>
                <a:latin typeface="Century Gothic"/>
                <a:cs typeface="Trebuchet MS"/>
              </a:rPr>
              <a:t>Mail:</a:t>
            </a:r>
            <a:r>
              <a:rPr sz="1400" i="1" spc="-29" dirty="0">
                <a:solidFill>
                  <a:schemeClr val="tx1"/>
                </a:solidFill>
                <a:latin typeface="Century Gothic"/>
                <a:cs typeface="Trebuchet MS"/>
              </a:rPr>
              <a:t> </a:t>
            </a:r>
            <a:r>
              <a:rPr sz="1400" i="1" spc="-6" dirty="0">
                <a:solidFill>
                  <a:schemeClr val="tx1"/>
                </a:solidFill>
                <a:latin typeface="Century Gothic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rabiasilakaraca742@gmail.com</a:t>
            </a:r>
            <a:endParaRPr sz="1400">
              <a:solidFill>
                <a:schemeClr val="tx1"/>
              </a:solidFill>
              <a:latin typeface="Century Gothic"/>
              <a:cs typeface="Trebuchet MS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00000"/>
              </a:lnSpc>
              <a:spcBef>
                <a:spcPts val="266"/>
              </a:spcBef>
            </a:pPr>
            <a:endParaRPr sz="1200">
              <a:latin typeface="Trebuchet MS"/>
              <a:cs typeface="Trebuchet MS"/>
            </a:endParaRPr>
          </a:p>
          <a:p>
            <a:pPr marL="28575">
              <a:lnSpc>
                <a:spcPct val="100000"/>
              </a:lnSpc>
            </a:pPr>
            <a:endParaRPr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113699" y="5969563"/>
            <a:ext cx="1154539" cy="16290"/>
          </a:xfrm>
          <a:custGeom>
            <a:avLst/>
            <a:gdLst/>
            <a:ahLst/>
            <a:cxnLst/>
            <a:rect l="l" t="t" r="r" b="b"/>
            <a:pathLst>
              <a:path w="1800225" h="25400">
                <a:moveTo>
                  <a:pt x="1799996" y="0"/>
                </a:moveTo>
                <a:lnTo>
                  <a:pt x="0" y="0"/>
                </a:lnTo>
                <a:lnTo>
                  <a:pt x="0" y="25311"/>
                </a:lnTo>
                <a:lnTo>
                  <a:pt x="1799996" y="25311"/>
                </a:lnTo>
                <a:lnTo>
                  <a:pt x="1799996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21" name="object 21"/>
          <p:cNvSpPr txBox="1"/>
          <p:nvPr/>
        </p:nvSpPr>
        <p:spPr>
          <a:xfrm>
            <a:off x="9992789" y="5763104"/>
            <a:ext cx="1396295" cy="649758"/>
          </a:xfrm>
          <a:prstGeom prst="rect">
            <a:avLst/>
          </a:prstGeom>
        </p:spPr>
        <p:txBody>
          <a:bodyPr vert="horz" wrap="square" lIns="0" tIns="9774" rIns="0" bIns="0" rtlCol="0" anchor="t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77"/>
              </a:spcBef>
            </a:pPr>
            <a:r>
              <a:rPr sz="1200" b="1" spc="-6" dirty="0">
                <a:solidFill>
                  <a:schemeClr val="tx1"/>
                </a:solidFill>
                <a:latin typeface="Trebuchet MS"/>
                <a:cs typeface="Trebuchet MS"/>
              </a:rPr>
              <a:t>KARONEXT</a:t>
            </a:r>
            <a:endParaRPr lang="tr-TR" sz="1200">
              <a:solidFill>
                <a:schemeClr val="tx1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48"/>
              </a:spcBef>
            </a:pPr>
            <a:r>
              <a:rPr sz="1200" i="1" spc="-22" dirty="0">
                <a:solidFill>
                  <a:schemeClr val="tx1"/>
                </a:solidFill>
                <a:latin typeface="Trebuchet MS"/>
                <a:cs typeface="Trebuchet MS"/>
              </a:rPr>
              <a:t>"The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51" dirty="0">
                <a:solidFill>
                  <a:schemeClr val="tx1"/>
                </a:solidFill>
                <a:latin typeface="Trebuchet MS"/>
                <a:cs typeface="Trebuchet MS"/>
              </a:rPr>
              <a:t>Next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45" dirty="0">
                <a:solidFill>
                  <a:schemeClr val="tx1"/>
                </a:solidFill>
                <a:latin typeface="Trebuchet MS"/>
                <a:cs typeface="Trebuchet MS"/>
              </a:rPr>
              <a:t>Generation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58" dirty="0">
                <a:solidFill>
                  <a:schemeClr val="tx1"/>
                </a:solidFill>
                <a:latin typeface="Trebuchet MS"/>
                <a:cs typeface="Trebuchet MS"/>
              </a:rPr>
              <a:t>of</a:t>
            </a:r>
            <a:r>
              <a:rPr sz="1200" i="1" spc="-48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1200" i="1" spc="-26" dirty="0">
                <a:solidFill>
                  <a:schemeClr val="tx1"/>
                </a:solidFill>
                <a:latin typeface="Trebuchet MS"/>
                <a:cs typeface="Trebuchet MS"/>
              </a:rPr>
              <a:t>Engineering."</a:t>
            </a:r>
            <a:endParaRPr sz="120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5976476" y="6533261"/>
            <a:ext cx="265354" cy="126308"/>
          </a:xfrm>
          <a:prstGeom prst="rect">
            <a:avLst/>
          </a:prstGeom>
        </p:spPr>
        <p:txBody>
          <a:bodyPr vert="horz" wrap="square" lIns="0" tIns="7738" rIns="0" bIns="0" rtlCol="0" anchor="t">
            <a:spAutoFit/>
          </a:bodyPr>
          <a:lstStyle/>
          <a:p>
            <a:pPr marL="24130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130">
                <a:lnSpc>
                  <a:spcPct val="100000"/>
                </a:lnSpc>
                <a:spcBef>
                  <a:spcPts val="61"/>
                </a:spcBef>
              </a:pPr>
              <a:t>7</a:t>
            </a:fld>
            <a:endParaRPr lang="tr-TR" spc="-32" dirty="0">
              <a:ea typeface="Tahoma"/>
            </a:endParaRPr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48B45A69-6B89-984D-E4A3-62B8246D5013}"/>
              </a:ext>
            </a:extLst>
          </p:cNvPr>
          <p:cNvSpPr/>
          <p:nvPr/>
        </p:nvSpPr>
        <p:spPr>
          <a:xfrm>
            <a:off x="3445233" y="3381199"/>
            <a:ext cx="5131351" cy="23820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7302DBB0-F0C1-CDC5-1FC0-8DA055161D9A}"/>
              </a:ext>
            </a:extLst>
          </p:cNvPr>
          <p:cNvSpPr/>
          <p:nvPr/>
        </p:nvSpPr>
        <p:spPr>
          <a:xfrm>
            <a:off x="2440862" y="492631"/>
            <a:ext cx="6930063" cy="23685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Geniş ekran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8" baseType="lpstr">
      <vt:lpstr>PortalVTI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799</cp:revision>
  <dcterms:created xsi:type="dcterms:W3CDTF">2026-06-25T21:03:14Z</dcterms:created>
  <dcterms:modified xsi:type="dcterms:W3CDTF">2026-07-06T17:07:52Z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LaTeX with hyperref</vt:lpwstr>
  </property>
  <property fmtid="{D5CDD505-2E9C-101B-9397-08002B2CF9AE}" pid="5" name="LastSaved">
    <vt:filetime>2026-06-25T00:00:00Z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