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rebuchet MS Bold Italics" charset="1" panose="020B0703020202090204"/>
      <p:regular r:id="rId15"/>
    </p:embeddedFont>
    <p:embeddedFont>
      <p:font typeface="Trebuchet MS Italics" charset="1" panose="020B0603020202090204"/>
      <p:regular r:id="rId16"/>
    </p:embeddedFont>
    <p:embeddedFont>
      <p:font typeface="Trebuchet MS Bold" charset="1" panose="020B0703020202020204"/>
      <p:regular r:id="rId17"/>
    </p:embeddedFont>
    <p:embeddedFont>
      <p:font typeface="Century Gothic Paneuropean Bold Italics" charset="1" panose="020B0702020202090204"/>
      <p:regular r:id="rId18"/>
    </p:embeddedFont>
    <p:embeddedFont>
      <p:font typeface="Century Gothic Paneuropean" charset="1" panose="020B0502020202020204"/>
      <p:regular r:id="rId19"/>
    </p:embeddedFont>
    <p:embeddedFont>
      <p:font typeface="Century Gothic Paneuropean Light" charset="1" panose="020B0302020202020204"/>
      <p:regular r:id="rId20"/>
    </p:embeddedFont>
    <p:embeddedFont>
      <p:font typeface="Century Gothic Paneuropean Bold" charset="1" panose="020B0702020202020204"/>
      <p:regular r:id="rId21"/>
    </p:embeddedFont>
    <p:embeddedFont>
      <p:font typeface="Lovelo Line Bold" charset="1" panose="02000000000000000000"/>
      <p:regular r:id="rId22"/>
    </p:embeddedFont>
    <p:embeddedFont>
      <p:font typeface="Century Gothic Paneuropean Italics" charset="1" panose="020B0502020202090204"/>
      <p:regular r:id="rId23"/>
    </p:embeddedFont>
    <p:embeddedFont>
      <p:font typeface="Stitch" charset="1" panose="00000000000000000000"/>
      <p:regular r:id="rId24"/>
    </p:embeddedFont>
    <p:embeddedFont>
      <p:font typeface="Glacial Indifference Bold" charset="1" panose="00000800000000000000"/>
      <p:regular r:id="rId25"/>
    </p:embeddedFont>
    <p:embeddedFont>
      <p:font typeface="Glacial Indifference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jpeg" Type="http://schemas.openxmlformats.org/officeDocument/2006/relationships/image"/><Relationship Id="rId5" Target="../media/image15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mailto:rabiasilakaraca742@gmail.com" TargetMode="External" Type="http://schemas.openxmlformats.org/officeDocument/2006/relationships/hyperlink"/><Relationship Id="rId3" Target="../media/image7.jpeg" Type="http://schemas.openxmlformats.org/officeDocument/2006/relationships/image"/><Relationship Id="rId4" Target="../media/image6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https://www.linkedin.com/company/karonext-karonext-2-teams/" TargetMode="External" Type="http://schemas.openxmlformats.org/officeDocument/2006/relationships/hyperlink"/><Relationship Id="rId9" Target="https://github.com/karonexttea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279" y="0"/>
            <a:ext cx="18397539" cy="10342474"/>
            <a:chOff x="0" y="0"/>
            <a:chExt cx="24661533" cy="138638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60861" cy="13863574"/>
            </a:xfrm>
            <a:custGeom>
              <a:avLst/>
              <a:gdLst/>
              <a:ahLst/>
              <a:cxnLst/>
              <a:rect r="r" b="b" t="t" l="l"/>
              <a:pathLst>
                <a:path h="13863574" w="24660861">
                  <a:moveTo>
                    <a:pt x="0" y="13863574"/>
                  </a:moveTo>
                  <a:lnTo>
                    <a:pt x="24660861" y="13863574"/>
                  </a:lnTo>
                  <a:lnTo>
                    <a:pt x="24660861" y="0"/>
                  </a:lnTo>
                  <a:lnTo>
                    <a:pt x="0" y="0"/>
                  </a:lnTo>
                  <a:lnTo>
                    <a:pt x="0" y="1386357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09336" y="9870186"/>
            <a:ext cx="7272985" cy="415995"/>
            <a:chOff x="0" y="0"/>
            <a:chExt cx="9697314" cy="554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97085" cy="554101"/>
            </a:xfrm>
            <a:custGeom>
              <a:avLst/>
              <a:gdLst/>
              <a:ahLst/>
              <a:cxnLst/>
              <a:rect r="r" b="b" t="t" l="l"/>
              <a:pathLst>
                <a:path h="554101" w="9697085">
                  <a:moveTo>
                    <a:pt x="0" y="554101"/>
                  </a:moveTo>
                  <a:lnTo>
                    <a:pt x="9697085" y="554101"/>
                  </a:lnTo>
                  <a:lnTo>
                    <a:pt x="9697085" y="0"/>
                  </a:lnTo>
                  <a:lnTo>
                    <a:pt x="0" y="0"/>
                  </a:lnTo>
                  <a:lnTo>
                    <a:pt x="0" y="55410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83890" y="235792"/>
            <a:ext cx="18485263" cy="210598"/>
          </a:xfrm>
          <a:custGeom>
            <a:avLst/>
            <a:gdLst/>
            <a:ahLst/>
            <a:cxnLst/>
            <a:rect r="r" b="b" t="t" l="l"/>
            <a:pathLst>
              <a:path h="210598" w="18485263">
                <a:moveTo>
                  <a:pt x="0" y="0"/>
                </a:moveTo>
                <a:lnTo>
                  <a:pt x="18485263" y="0"/>
                </a:lnTo>
                <a:lnTo>
                  <a:pt x="18485263" y="210598"/>
                </a:lnTo>
                <a:lnTo>
                  <a:pt x="0" y="210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969603" y="960377"/>
            <a:ext cx="8352451" cy="7569385"/>
            <a:chOff x="0" y="0"/>
            <a:chExt cx="10836999" cy="98209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37037" cy="9821037"/>
            </a:xfrm>
            <a:custGeom>
              <a:avLst/>
              <a:gdLst/>
              <a:ahLst/>
              <a:cxnLst/>
              <a:rect r="r" b="b" t="t" l="l"/>
              <a:pathLst>
                <a:path h="9821037" w="10837037">
                  <a:moveTo>
                    <a:pt x="0" y="0"/>
                  </a:moveTo>
                  <a:lnTo>
                    <a:pt x="10837037" y="0"/>
                  </a:lnTo>
                  <a:lnTo>
                    <a:pt x="10837037" y="9821037"/>
                  </a:lnTo>
                  <a:lnTo>
                    <a:pt x="0" y="9821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172" r="0" b="-51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540111" y="8520237"/>
            <a:ext cx="521143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3"/>
              </a:lnSpc>
            </a:pPr>
            <a:r>
              <a:rPr lang="en-US" b="true" sz="2769" i="true" spc="-155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TEKNOFEST 2026</a:t>
            </a:r>
          </a:p>
          <a:p>
            <a:pPr algn="ctr">
              <a:lnSpc>
                <a:spcPts val="3323"/>
              </a:lnSpc>
            </a:pPr>
            <a:r>
              <a:rPr lang="en-US" b="true" sz="2769" i="true" spc="-50">
                <a:solidFill>
                  <a:srgbClr val="FFFFFF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TAKIM TANITIMI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83890" y="9832162"/>
            <a:ext cx="18496150" cy="246021"/>
          </a:xfrm>
          <a:custGeom>
            <a:avLst/>
            <a:gdLst/>
            <a:ahLst/>
            <a:cxnLst/>
            <a:rect r="r" b="b" t="t" l="l"/>
            <a:pathLst>
              <a:path h="246021" w="18496150">
                <a:moveTo>
                  <a:pt x="0" y="0"/>
                </a:moveTo>
                <a:lnTo>
                  <a:pt x="18496150" y="0"/>
                </a:lnTo>
                <a:lnTo>
                  <a:pt x="18496150" y="246021"/>
                </a:lnTo>
                <a:lnTo>
                  <a:pt x="0" y="2460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2672928" y="-581369"/>
            <a:ext cx="19575858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594" i="true" spc="-30">
                <a:solidFill>
                  <a:srgbClr val="CC0000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                         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algn="l">
              <a:lnSpc>
                <a:spcPts val="4313"/>
              </a:lnSpc>
            </a:pPr>
          </a:p>
          <a:p>
            <a:pPr algn="l">
              <a:lnSpc>
                <a:spcPts val="6848"/>
              </a:lnSpc>
            </a:pPr>
            <a:r>
              <a:rPr lang="en-US" b="true" sz="5706" spc="-208">
                <a:solidFill>
                  <a:srgbClr val="CC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    </a:t>
            </a:r>
            <a:r>
              <a:rPr lang="en-US" b="true" sz="5706" i="true" spc="-208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                                                                  Takım Hakkında	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89825" y="1619260"/>
            <a:ext cx="5180457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 i="true" spc="-9">
                <a:solidFill>
                  <a:srgbClr val="CC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Vizyon</a:t>
            </a:r>
          </a:p>
          <a:p>
            <a:pPr algn="l">
              <a:lnSpc>
                <a:spcPts val="2520"/>
              </a:lnSpc>
            </a:pPr>
            <a:r>
              <a:rPr lang="en-US" sz="2100" spc="-2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KARONEXT olarak vizyonumuz;	 geleneksel	 yöntemlerin 	tıkandığı 	noktada derin öğrenme ve ileri seviye optimizasyon mimarileriyle yerli çözümler üretmek; bilginin bilgeliğini, Türkiye’nin teknolojik bağımsızlığına hizmet eden yüksek katma değerli projelere dönüştürmektir.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461652" y="6587351"/>
            <a:ext cx="383131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199" i="true" spc="-11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Çalışma Alanlarımız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691" y="7407726"/>
            <a:ext cx="5417639" cy="214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48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4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Derin Öğrenme ve Nöral Mimari</a:t>
            </a:r>
          </a:p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Doğal Dil İşleme (NLP)</a:t>
            </a:r>
          </a:p>
          <a:p>
            <a:pPr algn="l">
              <a:lnSpc>
                <a:spcPts val="2520"/>
              </a:lnSpc>
            </a:pPr>
            <a:r>
              <a:rPr lang="en-US" sz="2100" spc="-1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1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Bilgisayarlı Görü</a:t>
            </a:r>
          </a:p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Veri Analizi</a:t>
            </a:r>
          </a:p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Sinir Ağı Programlama</a:t>
            </a:r>
          </a:p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Optimizasyon Algoritmaları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0960" y="7412660"/>
            <a:ext cx="5156464" cy="17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Hibrit Yazılım Geliştirme</a:t>
            </a:r>
          </a:p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Model Geliştirme</a:t>
            </a:r>
          </a:p>
          <a:p>
            <a:pPr algn="l">
              <a:lnSpc>
                <a:spcPts val="2520"/>
              </a:lnSpc>
            </a:pPr>
            <a:r>
              <a:rPr lang="en-US" sz="2100" spc="-24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2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Algoritmik Mimari</a:t>
            </a:r>
          </a:p>
          <a:p>
            <a:pPr algn="l">
              <a:lnSpc>
                <a:spcPts val="2520"/>
              </a:lnSpc>
            </a:pPr>
            <a:r>
              <a:rPr lang="en-US" sz="2100" spc="-28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2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Yapay Zeka Etiği ve Güvenli Model</a:t>
            </a:r>
          </a:p>
          <a:p>
            <a:pPr algn="l">
              <a:lnSpc>
                <a:spcPts val="2520"/>
              </a:lnSpc>
            </a:pPr>
            <a:r>
              <a:rPr lang="en-US" sz="2100" spc="-28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2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Üretken Yapay Zeka ve Sentetik Veri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1552" y="2321252"/>
            <a:ext cx="4616053" cy="309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KARONEXT</a:t>
            </a:r>
            <a:r>
              <a:rPr lang="en-US" sz="21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yapay zeka teknolojilerini yerli ve milli imkanlarla geliştirerek, akademik bilgiyi yüksek katma değerli projelere dönüştürmek amacıyla kurulmuştur. Takımımız, teknolojide sürekli yenilenmeyi ve mükemmelliği hedefler.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00839" y="1578426"/>
            <a:ext cx="4321626" cy="4452261"/>
            <a:chOff x="0" y="0"/>
            <a:chExt cx="5762168" cy="59363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62117" cy="5936361"/>
            </a:xfrm>
            <a:custGeom>
              <a:avLst/>
              <a:gdLst/>
              <a:ahLst/>
              <a:cxnLst/>
              <a:rect r="r" b="b" t="t" l="l"/>
              <a:pathLst>
                <a:path h="5936361" w="5762117">
                  <a:moveTo>
                    <a:pt x="0" y="0"/>
                  </a:moveTo>
                  <a:lnTo>
                    <a:pt x="5762117" y="0"/>
                  </a:lnTo>
                  <a:lnTo>
                    <a:pt x="5762117" y="5936361"/>
                  </a:lnTo>
                  <a:lnTo>
                    <a:pt x="0" y="5936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11" t="0" r="-151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8797" y="1645977"/>
            <a:ext cx="10604325" cy="4440746"/>
            <a:chOff x="0" y="0"/>
            <a:chExt cx="14139100" cy="59209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39036" cy="5920994"/>
            </a:xfrm>
            <a:custGeom>
              <a:avLst/>
              <a:gdLst/>
              <a:ahLst/>
              <a:cxnLst/>
              <a:rect r="r" b="b" t="t" l="l"/>
              <a:pathLst>
                <a:path h="5920994" w="14139036">
                  <a:moveTo>
                    <a:pt x="0" y="986790"/>
                  </a:moveTo>
                  <a:cubicBezTo>
                    <a:pt x="0" y="441833"/>
                    <a:pt x="441833" y="0"/>
                    <a:pt x="986790" y="0"/>
                  </a:cubicBezTo>
                  <a:lnTo>
                    <a:pt x="13152247" y="0"/>
                  </a:lnTo>
                  <a:cubicBezTo>
                    <a:pt x="13697331" y="0"/>
                    <a:pt x="14139036" y="441833"/>
                    <a:pt x="14139036" y="986790"/>
                  </a:cubicBezTo>
                  <a:lnTo>
                    <a:pt x="14139036" y="4934204"/>
                  </a:lnTo>
                  <a:cubicBezTo>
                    <a:pt x="14139036" y="5479288"/>
                    <a:pt x="13697204" y="5920994"/>
                    <a:pt x="13152247" y="5920994"/>
                  </a:cubicBezTo>
                  <a:lnTo>
                    <a:pt x="986790" y="5920994"/>
                  </a:lnTo>
                  <a:cubicBezTo>
                    <a:pt x="441706" y="5920994"/>
                    <a:pt x="0" y="5479161"/>
                    <a:pt x="0" y="493420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9" t="0" r="-3729" b="0"/>
              </a:stretch>
            </a:blipFill>
            <a:ln w="76200" cap="sq">
              <a:solidFill>
                <a:srgbClr val="FFFFFF"/>
              </a:solidFill>
              <a:prstDash val="sysDot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794850" y="1390306"/>
            <a:ext cx="5770407" cy="3568122"/>
            <a:chOff x="0" y="0"/>
            <a:chExt cx="7693876" cy="47574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93914" cy="4757547"/>
            </a:xfrm>
            <a:custGeom>
              <a:avLst/>
              <a:gdLst/>
              <a:ahLst/>
              <a:cxnLst/>
              <a:rect r="r" b="b" t="t" l="l"/>
              <a:pathLst>
                <a:path h="4757547" w="7693914">
                  <a:moveTo>
                    <a:pt x="0" y="792988"/>
                  </a:moveTo>
                  <a:cubicBezTo>
                    <a:pt x="0" y="354965"/>
                    <a:pt x="354965" y="0"/>
                    <a:pt x="792988" y="0"/>
                  </a:cubicBezTo>
                  <a:lnTo>
                    <a:pt x="6900926" y="0"/>
                  </a:lnTo>
                  <a:cubicBezTo>
                    <a:pt x="7338822" y="0"/>
                    <a:pt x="7693914" y="354965"/>
                    <a:pt x="7693914" y="792988"/>
                  </a:cubicBezTo>
                  <a:lnTo>
                    <a:pt x="7693914" y="3964559"/>
                  </a:lnTo>
                  <a:cubicBezTo>
                    <a:pt x="7693914" y="4402455"/>
                    <a:pt x="7338949" y="4757547"/>
                    <a:pt x="6900926" y="4757547"/>
                  </a:cubicBezTo>
                  <a:lnTo>
                    <a:pt x="792988" y="4757547"/>
                  </a:lnTo>
                  <a:cubicBezTo>
                    <a:pt x="354965" y="4757547"/>
                    <a:pt x="0" y="4402455"/>
                    <a:pt x="0" y="396455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36" t="0" r="-29335" b="1"/>
              </a:stretch>
            </a:blipFill>
            <a:ln w="76200" cap="sq">
              <a:solidFill>
                <a:srgbClr val="FFFFFF"/>
              </a:solidFill>
              <a:prstDash val="sysDot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791912" y="5176876"/>
            <a:ext cx="5770407" cy="3502809"/>
            <a:chOff x="0" y="0"/>
            <a:chExt cx="7693876" cy="46704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93787" cy="4670425"/>
            </a:xfrm>
            <a:custGeom>
              <a:avLst/>
              <a:gdLst/>
              <a:ahLst/>
              <a:cxnLst/>
              <a:rect r="r" b="b" t="t" l="l"/>
              <a:pathLst>
                <a:path h="4670425" w="7693787">
                  <a:moveTo>
                    <a:pt x="0" y="778383"/>
                  </a:moveTo>
                  <a:cubicBezTo>
                    <a:pt x="0" y="348488"/>
                    <a:pt x="348488" y="0"/>
                    <a:pt x="778383" y="0"/>
                  </a:cubicBezTo>
                  <a:lnTo>
                    <a:pt x="6915404" y="0"/>
                  </a:lnTo>
                  <a:cubicBezTo>
                    <a:pt x="7345299" y="0"/>
                    <a:pt x="7693787" y="348488"/>
                    <a:pt x="7693787" y="778383"/>
                  </a:cubicBezTo>
                  <a:lnTo>
                    <a:pt x="7693787" y="3892042"/>
                  </a:lnTo>
                  <a:cubicBezTo>
                    <a:pt x="7693787" y="4321937"/>
                    <a:pt x="7345299" y="4670425"/>
                    <a:pt x="6915404" y="4670425"/>
                  </a:cubicBezTo>
                  <a:lnTo>
                    <a:pt x="778383" y="4670425"/>
                  </a:lnTo>
                  <a:cubicBezTo>
                    <a:pt x="348488" y="4670425"/>
                    <a:pt x="0" y="4321937"/>
                    <a:pt x="0" y="389204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84" t="0" r="-27885" b="0"/>
              </a:stretch>
            </a:blipFill>
            <a:ln w="76200" cap="sq">
              <a:solidFill>
                <a:srgbClr val="FFFFFF"/>
              </a:solidFill>
              <a:prstDash val="sysDot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179113" y="5549589"/>
            <a:ext cx="4990405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i="true">
                <a:solidFill>
                  <a:srgbClr val="CC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                          Misyon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Misyonumuz, akademik disiplini, endüstriyel standartlarda yazılım ve modelleme süreçlerine dönüştürmek; Teknofest için geliştirdiğimiz projelerle yüksek katma değerli, etik ve sürdürülebilir teknoloji çıktıları üreterek toplumsal fayda sağlamaktır.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205911" y="1830788"/>
            <a:ext cx="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80600" y="1830831"/>
            <a:ext cx="1905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66192" y="-44428"/>
            <a:ext cx="2721808" cy="1986868"/>
          </a:xfrm>
          <a:custGeom>
            <a:avLst/>
            <a:gdLst/>
            <a:ahLst/>
            <a:cxnLst/>
            <a:rect r="r" b="b" t="t" l="l"/>
            <a:pathLst>
              <a:path h="1986868" w="2721808">
                <a:moveTo>
                  <a:pt x="0" y="0"/>
                </a:moveTo>
                <a:lnTo>
                  <a:pt x="2721808" y="0"/>
                </a:lnTo>
                <a:lnTo>
                  <a:pt x="2721808" y="1986868"/>
                </a:lnTo>
                <a:lnTo>
                  <a:pt x="0" y="198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94" r="0" b="-184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0224" y="7817867"/>
            <a:ext cx="2724898" cy="2469176"/>
          </a:xfrm>
          <a:custGeom>
            <a:avLst/>
            <a:gdLst/>
            <a:ahLst/>
            <a:cxnLst/>
            <a:rect r="r" b="b" t="t" l="l"/>
            <a:pathLst>
              <a:path h="2469176" w="2724898">
                <a:moveTo>
                  <a:pt x="0" y="0"/>
                </a:moveTo>
                <a:lnTo>
                  <a:pt x="2724898" y="0"/>
                </a:lnTo>
                <a:lnTo>
                  <a:pt x="2724898" y="2469176"/>
                </a:lnTo>
                <a:lnTo>
                  <a:pt x="0" y="2469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78" r="0" b="-517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254019"/>
            <a:ext cx="602907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1. Veri Güvenliği ve Sentetik Veri Katmanı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4624" y="2254019"/>
            <a:ext cx="6285976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2. Evrak Sınıflandırma ve İçerik Analizi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99650" y="2254019"/>
            <a:ext cx="589639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3. Dinamik Mevzuat Eşleştirme ve Açıklanabilir Yapay Zeka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0224" y="4045924"/>
            <a:ext cx="5608622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Diferansiyel Gizlilik: Kurgusal kamu verileri işlenirken Diferansiyel Gizlilik stand</a:t>
            </a: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ardı ve Laplace/Gaussian gürültüsü ile gerçek şahıs/kurum bilgileri maskelenir.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</a:t>
            </a: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Sentetik Veri Motoru: CT-GAN ve Tabular SDE modelleriyle, risk barındırmayan milyonlarca satırlık "Dijital İkiz" (Sentetik Veri) otonom evrak yakıtı üretilir.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512233" y="4045924"/>
            <a:ext cx="5562045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OCR ve Derin Morfoloji: Fiziksel/dijit</a:t>
            </a: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 evraklar OCR ile dijitalleştirilir; Türkçeye özel derin morfolojik analizör ile ek ve kökler hatasız ayrıştırılarak sınıflandırma doğruluğu artırılır.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NER ve Otonom Analiz: Metinden tür, tarih, sayı, kişi ve kurum gibi unsurlar (NER) çıkarılır; eksik bilgiler anında tespit edilir ve kamu çalışanları için otonom özet oluşturulur.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898133" y="4045924"/>
            <a:ext cx="4899425" cy="565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Vektör Uzayı ile Eşleştirme: İlgili mevzuat Kosinüs Benzerliği üzerinden anlamsal olarak eşleştirilir; eski ve yeni hukuk terimleri arasındaki bağ yakalanır. 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Dinamik RAG Altyapısı: Yeni bir Resmi Gazete </a:t>
            </a: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PDF'i yüklendiği anda model yeniden eğitilmeden en güncel mevzuata göre analiz yapmaya başlar.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XAI ve Zincirleme Düşünme: Kararların altına yasal dayanakları gerekçesiyle yazılarak (Chain-of-Thought) denetlenebilir ve şeffaf bir süreç sunulur.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740945" y="747395"/>
            <a:ext cx="8806111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9"/>
              </a:lnSpc>
            </a:pPr>
            <a:r>
              <a:rPr lang="en-US" b="true" sz="5499" spc="329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TEKNOFEST PROJEMIZ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205911" y="1830788"/>
            <a:ext cx="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80600" y="1830831"/>
            <a:ext cx="1905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719143" y="-44428"/>
            <a:ext cx="2568857" cy="1875216"/>
          </a:xfrm>
          <a:custGeom>
            <a:avLst/>
            <a:gdLst/>
            <a:ahLst/>
            <a:cxnLst/>
            <a:rect r="r" b="b" t="t" l="l"/>
            <a:pathLst>
              <a:path h="1875216" w="2568857">
                <a:moveTo>
                  <a:pt x="0" y="0"/>
                </a:moveTo>
                <a:lnTo>
                  <a:pt x="2568857" y="0"/>
                </a:lnTo>
                <a:lnTo>
                  <a:pt x="2568857" y="1875216"/>
                </a:lnTo>
                <a:lnTo>
                  <a:pt x="0" y="1875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94" r="0" b="-184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6700" y="7953868"/>
            <a:ext cx="2539819" cy="2333175"/>
          </a:xfrm>
          <a:custGeom>
            <a:avLst/>
            <a:gdLst/>
            <a:ahLst/>
            <a:cxnLst/>
            <a:rect r="r" b="b" t="t" l="l"/>
            <a:pathLst>
              <a:path h="2333175" w="2539819">
                <a:moveTo>
                  <a:pt x="0" y="0"/>
                </a:moveTo>
                <a:lnTo>
                  <a:pt x="2539819" y="0"/>
                </a:lnTo>
                <a:lnTo>
                  <a:pt x="2539819" y="2333175"/>
                </a:lnTo>
                <a:lnTo>
                  <a:pt x="0" y="2333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428" r="0" b="-442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254019"/>
            <a:ext cx="602907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4. Resmî Yazı Taslaklama ve Birim Yönlendirme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4624" y="2254019"/>
            <a:ext cx="628597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5. İnsan Denetimli Öğrenme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99650" y="2254019"/>
            <a:ext cx="589639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6. Edge AI ve Yerel Model Optimizasyonu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0448" y="4045924"/>
            <a:ext cx="5608622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i="true" spc="-4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Bürokratik Taslaklama: Üst yazı, cevap veya bilgilendirme şablonları; Türk kamu bürokrasisi dil kurallarıyla ince ayar edilmiş LLM'ler tarafından otonom üretilir.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 i="true" spc="-4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 </a:t>
            </a:r>
          </a:p>
          <a:p>
            <a:pPr algn="ctr">
              <a:lnSpc>
                <a:spcPts val="2520"/>
              </a:lnSpc>
            </a:pPr>
            <a:r>
              <a:rPr lang="en-US" sz="2100" i="true" spc="-4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Yönlendirme ve Geri Dönüş: Evrak en doğru kamu birimine otonom yönlendirilir ve gerektiğinde karşı taraftan resmi üslupla eksik bilgi talep eden otomatik taslaklar kurgulanır.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98295" y="4045924"/>
            <a:ext cx="5782280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Onay ve RLHF: Ajanın kararları kamu personelinin onay/düzenleme ekranından geçer; arayüzdeki her manuel düzeltme RLHF (ödül mekanizması) ile sisteme öğretilerek sonraki hata payı otonom düşürülür.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87908" y="4045924"/>
            <a:ext cx="5319874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Model Sıkıştırma (PTQ &amp; QAT): Modeller PTQ ve QAT teknikleriyle INT8/FP4 seviyesine sıkıştırılarak boyutları %75 küçültülür ve işlem hızı 4 katına çıkarılır. 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Çevrimdışı Çalışma: İnternet kesintilerine korumalı, dış bağımlılığı olmayan, yerel ve gerçek zamanlı çalışma kabiliyetiyle demoda büyük avantaj sağlar.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740945" y="747395"/>
            <a:ext cx="8806111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9"/>
              </a:lnSpc>
            </a:pPr>
            <a:r>
              <a:rPr lang="en-US" b="true" sz="5499" spc="329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TEKNOFEST PROJEMIZ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205911" y="1830788"/>
            <a:ext cx="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80600" y="1830831"/>
            <a:ext cx="1905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719085" y="-44428"/>
            <a:ext cx="2568915" cy="1875259"/>
          </a:xfrm>
          <a:custGeom>
            <a:avLst/>
            <a:gdLst/>
            <a:ahLst/>
            <a:cxnLst/>
            <a:rect r="r" b="b" t="t" l="l"/>
            <a:pathLst>
              <a:path h="1875259" w="2568915">
                <a:moveTo>
                  <a:pt x="0" y="0"/>
                </a:moveTo>
                <a:lnTo>
                  <a:pt x="2568915" y="0"/>
                </a:lnTo>
                <a:lnTo>
                  <a:pt x="2568915" y="1875259"/>
                </a:lnTo>
                <a:lnTo>
                  <a:pt x="0" y="1875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94" r="0" b="-1849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32468" y="4045924"/>
            <a:ext cx="5121576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Evrensel Kamu ve Transliterasyon: MBERT ve XLM-ROBERTA ile kardeş dillere eğitilen altyapı; metinleri anlık olarak Kiril, Latin ve Osmanlı alfabelerine kayıpsız dönüştürerek tüm Türk Dünyasına ihraç potansiyeli taşır.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400" y="7953868"/>
            <a:ext cx="2501073" cy="2333175"/>
          </a:xfrm>
          <a:custGeom>
            <a:avLst/>
            <a:gdLst/>
            <a:ahLst/>
            <a:cxnLst/>
            <a:rect r="r" b="b" t="t" l="l"/>
            <a:pathLst>
              <a:path h="2333175" w="2501073">
                <a:moveTo>
                  <a:pt x="0" y="0"/>
                </a:moveTo>
                <a:lnTo>
                  <a:pt x="2501073" y="0"/>
                </a:lnTo>
                <a:lnTo>
                  <a:pt x="2501073" y="2333175"/>
                </a:lnTo>
                <a:lnTo>
                  <a:pt x="0" y="2333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98" r="0" b="-359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2254019"/>
            <a:ext cx="602907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7. Etik, Kapsayıcılık ve Engelsiz Erişim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99650" y="2254019"/>
            <a:ext cx="589639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9. Açık Kaynak Ekosistemi ve Yönetim Paneli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9891" y="3888762"/>
            <a:ext cx="5348345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İşaret Dili Çevirisi: Bilgisayarlı Görü ile işitme engellilerin el hareketleri dilekçeye dönüştürülür; resmi cevaplar ise 3D Avatar ile işaret diline çevrilir. 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Sentetik Video Artırımı: Veri seti yetersizliği, Üretken Yapay Zeka ile az sayıda videodan farklı açılarda binlerce yapay eğitim videosu üretilerek çözülmüştür.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848079" y="4045924"/>
            <a:ext cx="4999532" cy="40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senteturk-lib: Şartnameye tam uyumlu tüm teknik katmanlar ve veri kümeleri GitHub'da açık kaynak olarak paylaşılır; pip install senteturk ile 5 satırda erişilebilir. 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Kurumsal Dashboard: Evrak yükleme, Diferansiyel Gizlilik seviyesini (Epsilon parametresi) sürgüyle canlı ayarlama ve kararları grafiksel izleme imkanı sunan web panelidir.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484209" y="2254019"/>
            <a:ext cx="589639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8. Ticarileşme Potansiyeli ve Türk Dünyası Köprüsü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40945" y="747395"/>
            <a:ext cx="8806111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9"/>
              </a:lnSpc>
            </a:pPr>
            <a:r>
              <a:rPr lang="en-US" b="true" sz="5499" spc="329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TEKNOFEST PROJEMIZ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5331" y="339728"/>
            <a:ext cx="12187694" cy="4761138"/>
            <a:chOff x="0" y="0"/>
            <a:chExt cx="16250259" cy="6348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0273" cy="6348222"/>
            </a:xfrm>
            <a:custGeom>
              <a:avLst/>
              <a:gdLst/>
              <a:ahLst/>
              <a:cxnLst/>
              <a:rect r="r" b="b" t="t" l="l"/>
              <a:pathLst>
                <a:path h="6348222" w="16250273">
                  <a:moveTo>
                    <a:pt x="0" y="0"/>
                  </a:moveTo>
                  <a:lnTo>
                    <a:pt x="16250273" y="0"/>
                  </a:lnTo>
                  <a:lnTo>
                    <a:pt x="16250273" y="6348222"/>
                  </a:lnTo>
                  <a:lnTo>
                    <a:pt x="0" y="6348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432" r="0" b="-34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5634266"/>
            <a:ext cx="12773025" cy="4225014"/>
            <a:chOff x="0" y="0"/>
            <a:chExt cx="17030700" cy="5633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30737" cy="5633339"/>
            </a:xfrm>
            <a:custGeom>
              <a:avLst/>
              <a:gdLst/>
              <a:ahLst/>
              <a:cxnLst/>
              <a:rect r="r" b="b" t="t" l="l"/>
              <a:pathLst>
                <a:path h="5633339" w="17030737">
                  <a:moveTo>
                    <a:pt x="0" y="0"/>
                  </a:moveTo>
                  <a:lnTo>
                    <a:pt x="17030737" y="0"/>
                  </a:lnTo>
                  <a:lnTo>
                    <a:pt x="17030737" y="5633339"/>
                  </a:lnTo>
                  <a:lnTo>
                    <a:pt x="0" y="5633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04" t="0" r="-6103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flipV="true">
            <a:off x="-185066" y="5367566"/>
            <a:ext cx="18658131" cy="0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436559" y="574040"/>
            <a:ext cx="2146257" cy="2146257"/>
          </a:xfrm>
          <a:custGeom>
            <a:avLst/>
            <a:gdLst/>
            <a:ahLst/>
            <a:cxnLst/>
            <a:rect r="r" b="b" t="t" l="l"/>
            <a:pathLst>
              <a:path h="2146257" w="2146257">
                <a:moveTo>
                  <a:pt x="0" y="0"/>
                </a:moveTo>
                <a:lnTo>
                  <a:pt x="2146257" y="0"/>
                </a:lnTo>
                <a:lnTo>
                  <a:pt x="2146257" y="2146257"/>
                </a:lnTo>
                <a:lnTo>
                  <a:pt x="0" y="2146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49641" y="5634266"/>
            <a:ext cx="2333175" cy="2333175"/>
          </a:xfrm>
          <a:custGeom>
            <a:avLst/>
            <a:gdLst/>
            <a:ahLst/>
            <a:cxnLst/>
            <a:rect r="r" b="b" t="t" l="l"/>
            <a:pathLst>
              <a:path h="2333175" w="2333175">
                <a:moveTo>
                  <a:pt x="0" y="0"/>
                </a:moveTo>
                <a:lnTo>
                  <a:pt x="2333175" y="0"/>
                </a:lnTo>
                <a:lnTo>
                  <a:pt x="2333175" y="2333175"/>
                </a:lnTo>
                <a:lnTo>
                  <a:pt x="0" y="2333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37595" y="2796497"/>
            <a:ext cx="6944186" cy="44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0"/>
              </a:lnSpc>
            </a:pPr>
            <a:r>
              <a:rPr lang="en-US" b="true" sz="3500" spc="210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TAKIM BILGILERI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06632" y="7994972"/>
            <a:ext cx="8806111" cy="44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0"/>
              </a:lnSpc>
            </a:pPr>
            <a:r>
              <a:rPr lang="en-US" b="true" sz="3500" spc="210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TAKIM ÜYELERI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17686" y="6039198"/>
            <a:ext cx="1978780" cy="2412227"/>
          </a:xfrm>
          <a:custGeom>
            <a:avLst/>
            <a:gdLst/>
            <a:ahLst/>
            <a:cxnLst/>
            <a:rect r="r" b="b" t="t" l="l"/>
            <a:pathLst>
              <a:path h="2412227" w="1978780">
                <a:moveTo>
                  <a:pt x="0" y="0"/>
                </a:moveTo>
                <a:lnTo>
                  <a:pt x="1978780" y="0"/>
                </a:lnTo>
                <a:lnTo>
                  <a:pt x="1978780" y="2412227"/>
                </a:lnTo>
                <a:lnTo>
                  <a:pt x="0" y="2412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7790" y="6066435"/>
            <a:ext cx="1872743" cy="2384990"/>
          </a:xfrm>
          <a:custGeom>
            <a:avLst/>
            <a:gdLst/>
            <a:ahLst/>
            <a:cxnLst/>
            <a:rect r="r" b="b" t="t" l="l"/>
            <a:pathLst>
              <a:path h="2384990" w="1872743">
                <a:moveTo>
                  <a:pt x="0" y="0"/>
                </a:moveTo>
                <a:lnTo>
                  <a:pt x="1872743" y="0"/>
                </a:lnTo>
                <a:lnTo>
                  <a:pt x="1872743" y="2384990"/>
                </a:lnTo>
                <a:lnTo>
                  <a:pt x="0" y="2384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03" t="-431" r="-5746" b="-43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40586" y="6039198"/>
            <a:ext cx="1920209" cy="2412227"/>
          </a:xfrm>
          <a:custGeom>
            <a:avLst/>
            <a:gdLst/>
            <a:ahLst/>
            <a:cxnLst/>
            <a:rect r="r" b="b" t="t" l="l"/>
            <a:pathLst>
              <a:path h="2412227" w="1920209">
                <a:moveTo>
                  <a:pt x="0" y="0"/>
                </a:moveTo>
                <a:lnTo>
                  <a:pt x="1920209" y="0"/>
                </a:lnTo>
                <a:lnTo>
                  <a:pt x="1920209" y="2412227"/>
                </a:lnTo>
                <a:lnTo>
                  <a:pt x="0" y="2412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29" r="0" b="-102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37320" y="6066435"/>
            <a:ext cx="1835658" cy="2412227"/>
          </a:xfrm>
          <a:custGeom>
            <a:avLst/>
            <a:gdLst/>
            <a:ahLst/>
            <a:cxnLst/>
            <a:rect r="r" b="b" t="t" l="l"/>
            <a:pathLst>
              <a:path h="2412227" w="1835658">
                <a:moveTo>
                  <a:pt x="0" y="0"/>
                </a:moveTo>
                <a:lnTo>
                  <a:pt x="1835659" y="0"/>
                </a:lnTo>
                <a:lnTo>
                  <a:pt x="1835659" y="2412227"/>
                </a:lnTo>
                <a:lnTo>
                  <a:pt x="0" y="24122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573" t="0" r="-9146" b="-420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19264" y="1930727"/>
            <a:ext cx="2591031" cy="2591031"/>
          </a:xfrm>
          <a:custGeom>
            <a:avLst/>
            <a:gdLst/>
            <a:ahLst/>
            <a:cxnLst/>
            <a:rect r="r" b="b" t="t" l="l"/>
            <a:pathLst>
              <a:path h="2591031" w="2591031">
                <a:moveTo>
                  <a:pt x="0" y="0"/>
                </a:moveTo>
                <a:lnTo>
                  <a:pt x="2591031" y="0"/>
                </a:lnTo>
                <a:lnTo>
                  <a:pt x="2591031" y="2591031"/>
                </a:lnTo>
                <a:lnTo>
                  <a:pt x="0" y="25910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53128" y="1826633"/>
            <a:ext cx="2695125" cy="2695125"/>
          </a:xfrm>
          <a:custGeom>
            <a:avLst/>
            <a:gdLst/>
            <a:ahLst/>
            <a:cxnLst/>
            <a:rect r="r" b="b" t="t" l="l"/>
            <a:pathLst>
              <a:path h="2695125" w="2695125">
                <a:moveTo>
                  <a:pt x="0" y="0"/>
                </a:moveTo>
                <a:lnTo>
                  <a:pt x="2695125" y="0"/>
                </a:lnTo>
                <a:lnTo>
                  <a:pt x="2695125" y="2695125"/>
                </a:lnTo>
                <a:lnTo>
                  <a:pt x="0" y="2695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904348" y="8696325"/>
            <a:ext cx="461533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spc="-5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Üye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spc="-6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Arda Elibüyük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000" y="8696325"/>
            <a:ext cx="3724323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spc="-5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Kaptan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spc="-6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Rabia Sıla Karaca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19264" y="8696325"/>
            <a:ext cx="46788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spc="-5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Üye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spc="-6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Furkan Taşdelen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39282" y="8696325"/>
            <a:ext cx="452281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spc="-5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Üye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spc="-6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Sena Zeynep Hafızoğlu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16209" y="802769"/>
            <a:ext cx="8806111" cy="60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7"/>
              </a:lnSpc>
            </a:pPr>
            <a:r>
              <a:rPr lang="en-US" b="true" sz="4699" spc="281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ÜYE DETAYLARI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5541" y="0"/>
            <a:ext cx="2161009" cy="2161009"/>
          </a:xfrm>
          <a:custGeom>
            <a:avLst/>
            <a:gdLst/>
            <a:ahLst/>
            <a:cxnLst/>
            <a:rect r="r" b="b" t="t" l="l"/>
            <a:pathLst>
              <a:path h="2161009" w="2161009">
                <a:moveTo>
                  <a:pt x="0" y="0"/>
                </a:moveTo>
                <a:lnTo>
                  <a:pt x="2161009" y="0"/>
                </a:lnTo>
                <a:lnTo>
                  <a:pt x="2161009" y="2161009"/>
                </a:lnTo>
                <a:lnTo>
                  <a:pt x="0" y="2161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994" y="35059"/>
            <a:ext cx="2333175" cy="2333175"/>
          </a:xfrm>
          <a:custGeom>
            <a:avLst/>
            <a:gdLst/>
            <a:ahLst/>
            <a:cxnLst/>
            <a:rect r="r" b="b" t="t" l="l"/>
            <a:pathLst>
              <a:path h="2333175" w="2333175">
                <a:moveTo>
                  <a:pt x="0" y="0"/>
                </a:moveTo>
                <a:lnTo>
                  <a:pt x="2333175" y="0"/>
                </a:lnTo>
                <a:lnTo>
                  <a:pt x="2333175" y="2333175"/>
                </a:lnTo>
                <a:lnTo>
                  <a:pt x="0" y="2333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30107" y="1839822"/>
            <a:ext cx="15223436" cy="191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400" b="true">
                <a:solidFill>
                  <a:srgbClr val="C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Rabia Sıla KARACA   </a:t>
            </a:r>
          </a:p>
          <a:p>
            <a:pPr algn="ctr"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</a:t>
            </a:r>
            <a:r>
              <a:rPr lang="en-US" sz="24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apay Zeka Mühendisliği – Proje Yönetimi ve Koordinasyon</a:t>
            </a:r>
          </a:p>
          <a:p>
            <a:pPr algn="ctr">
              <a:lnSpc>
                <a:spcPts val="3150"/>
              </a:lnSpc>
            </a:pPr>
            <a:r>
              <a:rPr lang="en-US" sz="2400" spc="-1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Takımın kurucu lideri olarak stratejik proje planlaması, kaynak yönetimi, görev dağılımı ve disiplinler arası teknik koordinasyon süreçlerini yönetmektedir.</a:t>
            </a:r>
          </a:p>
          <a:p>
            <a:pPr algn="ctr">
              <a:lnSpc>
                <a:spcPts val="31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122532" y="4052291"/>
            <a:ext cx="14524387" cy="151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399" spc="-9">
                <a:solidFill>
                  <a:srgbClr val="C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Sena Zeynep HAFIZOĞLU </a:t>
            </a:r>
            <a:r>
              <a:rPr lang="en-US" sz="2399" spc="-9">
                <a:solidFill>
                  <a:srgbClr val="C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</a:t>
            </a:r>
            <a:r>
              <a:rPr lang="en-US" sz="2399" spc="-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</a:t>
            </a:r>
          </a:p>
          <a:p>
            <a:pPr algn="ctr">
              <a:lnSpc>
                <a:spcPts val="2879"/>
              </a:lnSpc>
            </a:pPr>
            <a:r>
              <a:rPr lang="en-US" sz="2399" spc="-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Y</a:t>
            </a:r>
            <a:r>
              <a:rPr lang="en-US" sz="2399" spc="-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apay Zeka Mühendisliği – AR-GE</a:t>
            </a:r>
          </a:p>
          <a:p>
            <a:pPr algn="ctr">
              <a:lnSpc>
                <a:spcPts val="3150"/>
              </a:lnSpc>
            </a:pPr>
            <a:r>
              <a:rPr lang="en-US" sz="2399" spc="-2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Derin öğrenme mimarilerinin tasarımı, model eğitimi, hiperparametre optimizasyonu ve ileri seviye yapay zeka araştırmaları yürütmektedir.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581" y="6209749"/>
            <a:ext cx="1541048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C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Furkan TAŞDELEN</a:t>
            </a:r>
            <a:r>
              <a:rPr lang="en-US" sz="2399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 </a:t>
            </a:r>
          </a:p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Bilgisayar Programcılığı – Backend Geliştirme ve Veritabanı Yönetimi</a:t>
            </a:r>
          </a:p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Sunucu taraflı geliştirme, veritabanı tasarımı ve performans optimizasyonu konularında çalışır.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81670" y="562203"/>
            <a:ext cx="8806111" cy="639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b="true" sz="4999" spc="299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ÜYE DETAYLARI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11651" y="8162925"/>
            <a:ext cx="1186469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 spc="-4">
                <a:solidFill>
                  <a:srgbClr val="C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Arda ELİBÜYÜK 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 spc="-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Bilgisayar Programcılığı – Yazılım Geliştirme ve Entegrasyon 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 spc="-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Proje yazılım altyapısının geliştirilmesi, API entegrasyonları ve sistem mimarisi üzerine çalışır.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6300" y="1028700"/>
            <a:ext cx="6924885" cy="125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 spc="-48">
                <a:solidFill>
                  <a:srgbClr val="CC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  </a:t>
            </a:r>
            <a:r>
              <a:rPr lang="en-US" b="true" sz="3000" i="true" spc="-48">
                <a:solidFill>
                  <a:srgbClr val="CC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 Takım Yetkinlikleri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03500"/>
            <a:ext cx="9124340" cy="154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1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1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Python </a:t>
            </a:r>
            <a:r>
              <a:rPr lang="en-US" sz="2400" spc="-1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Ana geliştirme dili</a:t>
            </a:r>
          </a:p>
          <a:p>
            <a:pPr algn="l">
              <a:lnSpc>
                <a:spcPts val="2879"/>
              </a:lnSpc>
            </a:pPr>
            <a:r>
              <a:rPr lang="en-US" sz="2400" spc="-3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3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3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 / C++ </a:t>
            </a:r>
            <a:r>
              <a:rPr lang="en-US" sz="2400" spc="-3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Performans kritik</a:t>
            </a:r>
          </a:p>
          <a:p>
            <a:pPr algn="l">
              <a:lnSpc>
                <a:spcPts val="2879"/>
              </a:lnSpc>
            </a:pPr>
            <a:r>
              <a:rPr lang="en-US" sz="2400" spc="-43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4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43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TensorFlow </a:t>
            </a:r>
            <a:r>
              <a:rPr lang="en-US" sz="2400" spc="-4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Derin öğrenme</a:t>
            </a:r>
          </a:p>
          <a:p>
            <a:pPr algn="l">
              <a:lnSpc>
                <a:spcPts val="2879"/>
              </a:lnSpc>
            </a:pPr>
            <a:r>
              <a:rPr lang="en-US" sz="24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PyTorch 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Model prototipleme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72361" y="1903500"/>
            <a:ext cx="6033173" cy="154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SQL / NoSQL 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Veri yönetimi</a:t>
            </a:r>
          </a:p>
          <a:p>
            <a:pPr algn="l">
              <a:lnSpc>
                <a:spcPts val="2879"/>
              </a:lnSpc>
            </a:pPr>
            <a:r>
              <a:rPr lang="en-US" sz="2400" spc="-33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3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33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Git / GitHub </a:t>
            </a:r>
            <a:r>
              <a:rPr lang="en-US" sz="2400" spc="-3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Versiyon kontrolü</a:t>
            </a:r>
          </a:p>
          <a:p>
            <a:pPr algn="l">
              <a:lnSpc>
                <a:spcPts val="2879"/>
              </a:lnSpc>
            </a:pPr>
            <a:r>
              <a:rPr lang="en-US" sz="24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Docker 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Konteynerizasyon</a:t>
            </a:r>
          </a:p>
          <a:p>
            <a:pPr algn="l">
              <a:lnSpc>
                <a:spcPts val="2879"/>
              </a:lnSpc>
            </a:pPr>
            <a:r>
              <a:rPr lang="en-US" sz="24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Cloud 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Bulut hizmetleri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99748" y="5667932"/>
            <a:ext cx="3843204" cy="47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 i="true" spc="-9">
                <a:solidFill>
                  <a:srgbClr val="C0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       İletişim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96155"/>
            <a:ext cx="7022144" cy="420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807"/>
              </a:lnSpc>
            </a:pPr>
            <a:r>
              <a:rPr lang="en-US" sz="2100" i="true" spc="-9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OSTİM Teknik Üniversitesi Yenimahalle, Ankara, Türkiye</a:t>
            </a:r>
          </a:p>
          <a:p>
            <a:pPr algn="l">
              <a:lnSpc>
                <a:spcPts val="2807"/>
              </a:lnSpc>
            </a:pPr>
            <a:r>
              <a:rPr lang="en-US" sz="2100" i="true" spc="-57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 Kuruluş Yılı: 2026</a:t>
            </a:r>
          </a:p>
          <a:p>
            <a:pPr algn="l">
              <a:lnSpc>
                <a:spcPts val="2966"/>
              </a:lnSpc>
            </a:pPr>
            <a:r>
              <a:rPr lang="en-US" sz="2100" i="true" spc="-72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Takım Türü: Üniversite (Okul)</a:t>
            </a:r>
          </a:p>
          <a:p>
            <a:pPr algn="l">
              <a:lnSpc>
                <a:spcPts val="2966"/>
              </a:lnSpc>
            </a:pPr>
            <a:r>
              <a:rPr lang="en-US" sz="2100" i="true" spc="-76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 İletişim No: 0(555) 091 34 37</a:t>
            </a:r>
          </a:p>
          <a:p>
            <a:pPr algn="l">
              <a:lnSpc>
                <a:spcPts val="2520"/>
              </a:lnSpc>
            </a:pPr>
            <a:r>
              <a:rPr lang="en-US" sz="2100" i="true" spc="-9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Mail: </a:t>
            </a:r>
            <a:r>
              <a:rPr lang="en-US" sz="2100" i="true" spc="-9" u="sng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  <a:hlinkClick r:id="rId2" tooltip="mailto:rabiasilakaraca742@gmail.com"/>
              </a:rPr>
              <a:t>rabiasilakaraca742@gmail.com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4299711" y="3977478"/>
            <a:ext cx="1742694" cy="62646"/>
            <a:chOff x="0" y="0"/>
            <a:chExt cx="2323592" cy="835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54"/>
              <a:ext cx="2323338" cy="83312"/>
            </a:xfrm>
            <a:custGeom>
              <a:avLst/>
              <a:gdLst/>
              <a:ahLst/>
              <a:cxnLst/>
              <a:rect r="r" b="b" t="t" l="l"/>
              <a:pathLst>
                <a:path h="83312" w="2323338">
                  <a:moveTo>
                    <a:pt x="2323338" y="83312"/>
                  </a:moveTo>
                  <a:lnTo>
                    <a:pt x="0" y="83312"/>
                  </a:lnTo>
                  <a:lnTo>
                    <a:pt x="0" y="0"/>
                  </a:lnTo>
                  <a:lnTo>
                    <a:pt x="2323338" y="0"/>
                  </a:lnTo>
                  <a:lnTo>
                    <a:pt x="2323338" y="83312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0699" y="5143500"/>
            <a:ext cx="7716079" cy="3592135"/>
            <a:chOff x="0" y="0"/>
            <a:chExt cx="10288105" cy="47895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88143" cy="4789551"/>
            </a:xfrm>
            <a:custGeom>
              <a:avLst/>
              <a:gdLst/>
              <a:ahLst/>
              <a:cxnLst/>
              <a:rect r="r" b="b" t="t" l="l"/>
              <a:pathLst>
                <a:path h="4789551" w="10288143">
                  <a:moveTo>
                    <a:pt x="0" y="798322"/>
                  </a:moveTo>
                  <a:cubicBezTo>
                    <a:pt x="0" y="357378"/>
                    <a:pt x="357378" y="0"/>
                    <a:pt x="798322" y="0"/>
                  </a:cubicBezTo>
                  <a:lnTo>
                    <a:pt x="9489821" y="0"/>
                  </a:lnTo>
                  <a:cubicBezTo>
                    <a:pt x="9930638" y="0"/>
                    <a:pt x="10288143" y="357378"/>
                    <a:pt x="10288143" y="798322"/>
                  </a:cubicBezTo>
                  <a:lnTo>
                    <a:pt x="10288143" y="3991229"/>
                  </a:lnTo>
                  <a:cubicBezTo>
                    <a:pt x="10288143" y="4432046"/>
                    <a:pt x="9930765" y="4789551"/>
                    <a:pt x="9489821" y="4789551"/>
                  </a:cubicBezTo>
                  <a:lnTo>
                    <a:pt x="798322" y="4789551"/>
                  </a:lnTo>
                  <a:cubicBezTo>
                    <a:pt x="357378" y="4789551"/>
                    <a:pt x="0" y="4432173"/>
                    <a:pt x="0" y="399122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730" t="0" r="-9729" b="0"/>
              </a:stretch>
            </a:blipFill>
            <a:ln w="57150" cap="sq">
              <a:solidFill>
                <a:srgbClr val="FFFFFF"/>
              </a:solidFill>
              <a:prstDash val="lgDash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40699" y="511694"/>
            <a:ext cx="11185028" cy="3836201"/>
            <a:chOff x="0" y="0"/>
            <a:chExt cx="13885532" cy="47624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85545" cy="4762373"/>
            </a:xfrm>
            <a:custGeom>
              <a:avLst/>
              <a:gdLst/>
              <a:ahLst/>
              <a:cxnLst/>
              <a:rect r="r" b="b" t="t" l="l"/>
              <a:pathLst>
                <a:path h="4762373" w="13885545">
                  <a:moveTo>
                    <a:pt x="0" y="793750"/>
                  </a:moveTo>
                  <a:cubicBezTo>
                    <a:pt x="0" y="355346"/>
                    <a:pt x="355346" y="0"/>
                    <a:pt x="793750" y="0"/>
                  </a:cubicBezTo>
                  <a:lnTo>
                    <a:pt x="13091795" y="0"/>
                  </a:lnTo>
                  <a:cubicBezTo>
                    <a:pt x="13530199" y="0"/>
                    <a:pt x="13885545" y="355346"/>
                    <a:pt x="13885545" y="793750"/>
                  </a:cubicBezTo>
                  <a:lnTo>
                    <a:pt x="13885545" y="3968623"/>
                  </a:lnTo>
                  <a:cubicBezTo>
                    <a:pt x="13885545" y="4407027"/>
                    <a:pt x="13530199" y="4762373"/>
                    <a:pt x="13091795" y="4762373"/>
                  </a:cubicBezTo>
                  <a:lnTo>
                    <a:pt x="793750" y="4762373"/>
                  </a:lnTo>
                  <a:cubicBezTo>
                    <a:pt x="355346" y="4762373"/>
                    <a:pt x="0" y="4407027"/>
                    <a:pt x="0" y="396862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1" r="0" b="-6812"/>
              </a:stretch>
            </a:blipFill>
            <a:ln w="57150" cap="sq">
              <a:solidFill>
                <a:srgbClr val="FFFFFF"/>
              </a:solidFill>
              <a:prstDash val="lgDash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799458" y="511694"/>
            <a:ext cx="2743200" cy="2623461"/>
            <a:chOff x="0" y="0"/>
            <a:chExt cx="3657600" cy="34979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00" cy="3497961"/>
            </a:xfrm>
            <a:custGeom>
              <a:avLst/>
              <a:gdLst/>
              <a:ahLst/>
              <a:cxnLst/>
              <a:rect r="r" b="b" t="t" l="l"/>
              <a:pathLst>
                <a:path h="349796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497961"/>
                  </a:lnTo>
                  <a:lnTo>
                    <a:pt x="0" y="3497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82" r="0" b="-228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488948" y="6939567"/>
            <a:ext cx="1639314" cy="399396"/>
          </a:xfrm>
          <a:custGeom>
            <a:avLst/>
            <a:gdLst/>
            <a:ahLst/>
            <a:cxnLst/>
            <a:rect r="r" b="b" t="t" l="l"/>
            <a:pathLst>
              <a:path h="399396" w="1639314">
                <a:moveTo>
                  <a:pt x="0" y="0"/>
                </a:moveTo>
                <a:lnTo>
                  <a:pt x="1639314" y="0"/>
                </a:lnTo>
                <a:lnTo>
                  <a:pt x="1639314" y="399397"/>
                </a:lnTo>
                <a:lnTo>
                  <a:pt x="0" y="3993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539762" y="8023165"/>
            <a:ext cx="1537685" cy="570865"/>
          </a:xfrm>
          <a:custGeom>
            <a:avLst/>
            <a:gdLst/>
            <a:ahLst/>
            <a:cxnLst/>
            <a:rect r="r" b="b" t="t" l="l"/>
            <a:pathLst>
              <a:path h="570865" w="1537685">
                <a:moveTo>
                  <a:pt x="0" y="0"/>
                </a:moveTo>
                <a:lnTo>
                  <a:pt x="1537685" y="0"/>
                </a:lnTo>
                <a:lnTo>
                  <a:pt x="1537685" y="570866"/>
                </a:lnTo>
                <a:lnTo>
                  <a:pt x="0" y="5708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457087" y="3630235"/>
            <a:ext cx="342794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9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KARONEXT</a:t>
            </a:r>
          </a:p>
          <a:p>
            <a:pPr algn="ctr">
              <a:lnSpc>
                <a:spcPts val="2160"/>
              </a:lnSpc>
            </a:pPr>
          </a:p>
          <a:p>
            <a:pPr algn="ctr">
              <a:lnSpc>
                <a:spcPts val="2160"/>
              </a:lnSpc>
            </a:pPr>
            <a:r>
              <a:rPr lang="en-US" sz="1800" i="true" spc="-39">
                <a:solidFill>
                  <a:srgbClr val="FFFFFF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"The Next Generation of Engineering."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58348" y="6831906"/>
            <a:ext cx="5606120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 u="sng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  <a:hlinkClick r:id="rId8" tooltip="https://www.linkedin.com/company/karonext-karonext-2-teams/"/>
              </a:rPr>
              <a:t>https://www.linkedin.com/company/karonext-karonext-2-teams/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i="true" u="sng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  <a:hlinkClick r:id="rId9" tooltip="https://github.com/karonextteam"/>
              </a:rPr>
              <a:t>https://github.com/karonextteam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DAHO_SMR2yc</dc:identifier>
  <dcterms:modified xsi:type="dcterms:W3CDTF">2011-08-01T06:04:30Z</dcterms:modified>
  <cp:revision>1</cp:revision>
  <dc:title>Karonext</dc:title>
</cp:coreProperties>
</file>